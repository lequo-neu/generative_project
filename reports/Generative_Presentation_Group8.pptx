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70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9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200" y="1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0464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C3468-9C98-9391-8EC2-608059796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E57DC-B5B6-0F69-8CAD-611ED8A530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A0B29B-6893-15D1-65BC-FE2D8A160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1211D6-093F-6314-D014-A2CD984BF0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5476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19F73-9A42-7757-5D58-6E383E795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A963D4-1EDD-BA74-572B-D2E228AB2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48FDA7-250C-DFF8-EFD5-EEE7CF68D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F2C53-9C0B-0E71-876D-D97ECDB172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121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D65C4-6930-77E7-7CFB-CE9B12934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FECE7C-09C1-1608-00C3-2A7412C3C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57EF9E-D9A8-4E6C-5693-97E957B5B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60F38-4592-45D1-FB7F-B2E99D524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7081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9975E-3B2D-A185-57A2-4808F3CDC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809114-6039-A62B-263F-6EDB8C9172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CA6184-7FAC-8066-50CA-875FB8B0A2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097BC-12C3-0902-E0DC-C95AD4EA95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388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5D3B5-E2D1-BDE5-A504-6667E922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C52A04-F33C-2FF9-358A-6F441FBDF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E1E164-0BBB-86DE-F27C-BB32F7C69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CD85E3-5AE7-C44A-32AF-D8A7882B0D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7118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3AE75-720B-4261-0924-48A74FF37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C1E0AD-477D-532A-187D-9E33470BF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BF94E-0E5C-803F-A988-D01F8A479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530AD-3ABB-C1C4-62EF-F2D62EBC4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8400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AE8B6-2984-8FBA-5B07-D4D034C32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BB0743-C05A-BDF0-0807-BAC9762B9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415EC9-61F1-BEAF-BEBB-5C0F3B172F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FEE24-BEF9-CFCC-39F1-38786FB648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351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1E9A1-006C-84AA-6278-C441C5998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49F38-739B-9272-8C35-5836B42DC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C97268-A0CD-9B87-DE16-13BF1834F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0EE94-EAEE-80B7-DA80-4E29ED6DB9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24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97906-98AB-165F-B868-EFDA26626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1EEFB5-BF63-6FE5-F60C-FA67E7941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7EBB98-36FA-B256-D084-E31EA40F0C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6C41C-CB46-AB82-D265-36105F1994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717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48135-9664-5569-A0FA-B35ADE905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9C7E1-0194-1DD4-EB46-8367A0C5C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39CD7-8961-9C38-4F4C-D684510AC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D5AA9-D56D-BB34-A254-B01CB4C7A8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1492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8FDBB-4471-7544-F84F-C9C8438C2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3382C8-6CDC-2352-1E03-7CA4D1DD2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8CC03A-C666-2153-6AF3-A9EA4C1C0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187FC-F496-65C9-3E01-62C05DA1C4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6333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ho.int/news-room/fact-sheets/detail/blindness-and-visual-impairment#:~:text=Globally%2C%20at%20least%202.2%20billion,are%20refractive%20errors%20and%20cataracts.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wearetenet.com/blog/web-accessibility-statistics" TargetMode="External"/><Relationship Id="rId4" Type="http://schemas.openxmlformats.org/officeDocument/2006/relationships/hyperlink" Target="https://www.momentslab.com/blog/how-to-automate-metadata-generation-for-content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035040" y="0"/>
            <a:ext cx="3108960" cy="5143500"/>
          </a:xfrm>
          <a:prstGeom prst="rect">
            <a:avLst/>
          </a:prstGeom>
          <a:solidFill>
            <a:srgbClr val="081522"/>
          </a:solidFill>
          <a:ln w="12700">
            <a:solidFill>
              <a:srgbClr val="0815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65760" y="1783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FFF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Image-to-Text Generation</a:t>
            </a:r>
            <a:endParaRPr lang="en-US" sz="2200" dirty="0">
              <a:solidFill>
                <a:srgbClr val="FFFF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65760" y="22860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CLIP Vision Encoders and GPT-2 Language Decoders</a:t>
            </a:r>
            <a:endParaRPr lang="en-US" sz="1600" dirty="0">
              <a:solidFill>
                <a:schemeClr val="bg2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365760" y="2234808"/>
            <a:ext cx="320040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3127248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 7615 Deep Learning for AI</a:t>
            </a:r>
          </a:p>
          <a:p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Prof. </a:t>
            </a:r>
            <a:r>
              <a:rPr lang="en-US" sz="1400" dirty="0" err="1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Xuemin</a:t>
            </a: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Jin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8: Quoc Hung Le, Khoa Tran, Hassan </a:t>
            </a:r>
            <a:r>
              <a:rPr lang="en-US" sz="1400" dirty="0" err="1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Alfaree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7220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2"/>
                </a:solidFill>
              </a:rPr>
              <a:t>COCO 2017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72200" y="100584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72200" y="10241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0000"/>
                </a:solidFill>
              </a:rPr>
              <a:t>118 K</a:t>
            </a:r>
            <a:endParaRPr lang="en-US" sz="2600" dirty="0">
              <a:solidFill>
                <a:srgbClr val="FF0000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172200" y="1435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Training Images</a:t>
            </a:r>
          </a:p>
        </p:txBody>
      </p:sp>
      <p:sp>
        <p:nvSpPr>
          <p:cNvPr id="13" name="Shape 11"/>
          <p:cNvSpPr/>
          <p:nvPr/>
        </p:nvSpPr>
        <p:spPr>
          <a:xfrm>
            <a:off x="6172200" y="196596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72200" y="19842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6"/>
                </a:solidFill>
              </a:rPr>
              <a:t>500</a:t>
            </a:r>
            <a:endParaRPr lang="en-US" sz="2600" dirty="0">
              <a:solidFill>
                <a:schemeClr val="accent6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6172200" y="2395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Val Images Evaluated</a:t>
            </a:r>
          </a:p>
        </p:txBody>
      </p:sp>
      <p:sp>
        <p:nvSpPr>
          <p:cNvPr id="16" name="Shape 14"/>
          <p:cNvSpPr/>
          <p:nvPr/>
        </p:nvSpPr>
        <p:spPr>
          <a:xfrm>
            <a:off x="6172200" y="292608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72200" y="29443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</a:t>
            </a:r>
            <a:endParaRPr lang="en-US" sz="2600" dirty="0">
              <a:solidFill>
                <a:schemeClr val="accent2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172200" y="3355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Fine-tuning Strategies</a:t>
            </a:r>
          </a:p>
        </p:txBody>
      </p:sp>
      <p:sp>
        <p:nvSpPr>
          <p:cNvPr id="19" name="Shape 17"/>
          <p:cNvSpPr/>
          <p:nvPr/>
        </p:nvSpPr>
        <p:spPr>
          <a:xfrm>
            <a:off x="6172200" y="388620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72200" y="3904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00"/>
                </a:solidFill>
              </a:rPr>
              <a:t>0.9364</a:t>
            </a:r>
            <a:endParaRPr lang="en-US" sz="2600" dirty="0">
              <a:solidFill>
                <a:srgbClr val="FFFF00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6172200" y="4315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Best CIDEr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2412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Problem &amp; Motivation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Why image captioning matters</a:t>
            </a:r>
          </a:p>
        </p:txBody>
      </p:sp>
      <p:sp>
        <p:nvSpPr>
          <p:cNvPr id="9" name="Shape 7"/>
          <p:cNvSpPr/>
          <p:nvPr/>
        </p:nvSpPr>
        <p:spPr>
          <a:xfrm>
            <a:off x="45720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CLIP + ProjectionHead + GPT-2</a:t>
            </a:r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412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Fine-Tuning Strategies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Frozen vs FT-4L vs LoRA</a:t>
            </a:r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39502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Results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4297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COCO 500-image benchmark</a:t>
            </a:r>
          </a:p>
        </p:txBody>
      </p:sp>
      <p:sp>
        <p:nvSpPr>
          <p:cNvPr id="24" name="Shape 22"/>
          <p:cNvSpPr/>
          <p:nvPr/>
        </p:nvSpPr>
        <p:spPr>
          <a:xfrm>
            <a:off x="484632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1324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Sensitivity Analysis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1324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Beam width and temperature</a:t>
            </a:r>
          </a:p>
        </p:txBody>
      </p:sp>
      <p:sp>
        <p:nvSpPr>
          <p:cNvPr id="29" name="Shape 27"/>
          <p:cNvSpPr/>
          <p:nvPr/>
        </p:nvSpPr>
        <p:spPr>
          <a:xfrm>
            <a:off x="484632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Findings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1324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What the numbers tell us</a:t>
            </a:r>
          </a:p>
        </p:txBody>
      </p:sp>
      <p:sp>
        <p:nvSpPr>
          <p:cNvPr id="34" name="Shape 32"/>
          <p:cNvSpPr/>
          <p:nvPr/>
        </p:nvSpPr>
        <p:spPr>
          <a:xfrm>
            <a:off x="484632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41324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Considerations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1324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Bias, risk, and responsibility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 MOTIVATION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Image Captioning?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2651760" cy="15544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2.2B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visually impaired people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globally need alt-text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(</a:t>
            </a:r>
            <a:r>
              <a:rPr lang="en-US" sz="1400" dirty="0">
                <a:solidFill>
                  <a:schemeClr val="bg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WHO, 2026</a:t>
            </a:r>
            <a:r>
              <a:rPr lang="en-US" sz="1400" dirty="0">
                <a:solidFill>
                  <a:schemeClr val="bg2"/>
                </a:solidFill>
              </a:rPr>
              <a:t>)</a:t>
            </a:r>
          </a:p>
        </p:txBody>
      </p:sp>
      <p:sp>
        <p:nvSpPr>
          <p:cNvPr id="9" name="Shape 7"/>
          <p:cNvSpPr/>
          <p:nvPr/>
        </p:nvSpPr>
        <p:spPr>
          <a:xfrm>
            <a:off x="3291840" y="1417320"/>
            <a:ext cx="265176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9184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10X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9184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faster content indexing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with auto-generated metadata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(</a:t>
            </a:r>
            <a:r>
              <a:rPr lang="en-US" sz="1400" dirty="0" err="1">
                <a:solidFill>
                  <a:schemeClr val="bg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MomentsLab</a:t>
            </a:r>
            <a:r>
              <a:rPr lang="en-US" sz="1400" dirty="0">
                <a:solidFill>
                  <a:schemeClr val="bg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2026</a:t>
            </a:r>
            <a:r>
              <a:rPr lang="en-US" sz="1400" dirty="0">
                <a:solidFill>
                  <a:schemeClr val="bg2"/>
                </a:solidFill>
              </a:rPr>
              <a:t>)</a:t>
            </a:r>
          </a:p>
        </p:txBody>
      </p:sp>
      <p:sp>
        <p:nvSpPr>
          <p:cNvPr id="12" name="Shape 10"/>
          <p:cNvSpPr/>
          <p:nvPr/>
        </p:nvSpPr>
        <p:spPr>
          <a:xfrm>
            <a:off x="6217920" y="1417320"/>
            <a:ext cx="2651760" cy="155448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55.5%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21792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of web images lack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accessible descriptions</a:t>
            </a:r>
          </a:p>
          <a:p>
            <a:pPr algn="ctr"/>
            <a:r>
              <a:rPr lang="en-US" sz="1400" dirty="0">
                <a:solidFill>
                  <a:schemeClr val="bg2"/>
                </a:solidFill>
              </a:rPr>
              <a:t>(</a:t>
            </a:r>
            <a:r>
              <a:rPr lang="en-US" sz="1400" dirty="0" err="1">
                <a:solidFill>
                  <a:schemeClr val="bg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wearetenet</a:t>
            </a:r>
            <a:r>
              <a:rPr lang="en-US" sz="1400" dirty="0">
                <a:solidFill>
                  <a:schemeClr val="bg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2026</a:t>
            </a:r>
            <a:r>
              <a:rPr lang="en-US" sz="1400" dirty="0">
                <a:solidFill>
                  <a:schemeClr val="bg2"/>
                </a:solidFill>
              </a:rPr>
              <a:t>)</a:t>
            </a:r>
          </a:p>
        </p:txBody>
      </p:sp>
      <p:sp>
        <p:nvSpPr>
          <p:cNvPr id="15" name="Shape 13"/>
          <p:cNvSpPr/>
          <p:nvPr/>
        </p:nvSpPr>
        <p:spPr>
          <a:xfrm>
            <a:off x="365760" y="3154680"/>
            <a:ext cx="8412480" cy="164592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154680"/>
            <a:ext cx="64008" cy="164592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The Task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35661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C2B3A"/>
                </a:solidFill>
              </a:rPr>
              <a:t>Given an arbitrary image, generate a fluent, accurate natural-language description of its content - without any human annotation at inference time.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1508760" cy="14356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Image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Input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Any resolution</a:t>
            </a:r>
          </a:p>
        </p:txBody>
      </p:sp>
      <p:sp>
        <p:nvSpPr>
          <p:cNvPr id="9" name="Shape 7"/>
          <p:cNvSpPr/>
          <p:nvPr/>
        </p:nvSpPr>
        <p:spPr>
          <a:xfrm>
            <a:off x="1783080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508760" cy="1435608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93392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CLIP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ViT-B/32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93392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Frozen encoder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512-d embedding</a:t>
            </a:r>
          </a:p>
        </p:txBody>
      </p:sp>
      <p:sp>
        <p:nvSpPr>
          <p:cNvPr id="13" name="Shape 11"/>
          <p:cNvSpPr/>
          <p:nvPr/>
        </p:nvSpPr>
        <p:spPr>
          <a:xfrm>
            <a:off x="3502152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12464" y="1261872"/>
            <a:ext cx="1508760" cy="1435608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12464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Head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712464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2-layer MLP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10 prefix tokens</a:t>
            </a:r>
          </a:p>
        </p:txBody>
      </p:sp>
      <p:sp>
        <p:nvSpPr>
          <p:cNvPr id="17" name="Shape 15"/>
          <p:cNvSpPr/>
          <p:nvPr/>
        </p:nvSpPr>
        <p:spPr>
          <a:xfrm>
            <a:off x="5221224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31536" y="1261872"/>
            <a:ext cx="1508760" cy="14356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31536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GPT-2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Decoder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31536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117M params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Autoregressive</a:t>
            </a:r>
          </a:p>
        </p:txBody>
      </p:sp>
      <p:sp>
        <p:nvSpPr>
          <p:cNvPr id="21" name="Shape 19"/>
          <p:cNvSpPr/>
          <p:nvPr/>
        </p:nvSpPr>
        <p:spPr>
          <a:xfrm>
            <a:off x="6940296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150608" y="1261872"/>
            <a:ext cx="1508760" cy="14356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50608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Caption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50608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Natural language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description</a:t>
            </a:r>
          </a:p>
        </p:txBody>
      </p:sp>
      <p:sp>
        <p:nvSpPr>
          <p:cNvPr id="25" name="Text 23"/>
          <p:cNvSpPr/>
          <p:nvPr/>
        </p:nvSpPr>
        <p:spPr>
          <a:xfrm>
            <a:off x="2267712" y="10571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512-d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21179" y="10424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10x768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40096" y="1012286"/>
            <a:ext cx="18166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Dynamic tokens + sentences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017520"/>
            <a:ext cx="8412480" cy="182880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60" y="3017520"/>
            <a:ext cx="64008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0" name="Text 28"/>
          <p:cNvSpPr/>
          <p:nvPr/>
        </p:nvSpPr>
        <p:spPr>
          <a:xfrm>
            <a:off x="548640" y="30224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ProjectionHead Detail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2" name="Text 30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Linear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(512→3072)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792224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4" name="Shape 32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5" name="Text 33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GELU Activation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182112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7" name="Shape 35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Dropout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(p=0.1)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572000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0" name="Shape 38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1" name="Text 39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Linear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(3072→7680)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61888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3" name="Shape 41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4" name="Text 42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LayerNorm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351776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6" name="Shape 44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Reshape→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(10, 768)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48640" y="3931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2B3A"/>
                </a:solidFill>
              </a:rPr>
              <a:t>Image prefix conditioning: visual context is injected as 10 learnable prefix tokens prepended to GPT-2's input.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 FINE-TUNING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Training Strategies Compared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Frozen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62.9M params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187.4 M total</a:t>
            </a:r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Only ProjectionHead is trained.</a:t>
            </a:r>
            <a:endParaRPr lang="en-US" sz="1200" dirty="0"/>
          </a:p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GPT-2 weights stay completely fixed.</a:t>
            </a:r>
            <a:endParaRPr lang="en-US" sz="1200" dirty="0"/>
          </a:p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Fastest to train, smallest memory footprint.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Baseline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9184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FT-4L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38328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B6E4F"/>
                </a:solidFill>
              </a:rPr>
              <a:t>129.9M params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129.9 M total</a:t>
            </a:r>
          </a:p>
        </p:txBody>
      </p:sp>
      <p:sp>
        <p:nvSpPr>
          <p:cNvPr id="20" name="Shape 18"/>
          <p:cNvSpPr/>
          <p:nvPr/>
        </p:nvSpPr>
        <p:spPr>
          <a:xfrm>
            <a:off x="347472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0156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ProjectionHead + last 4 GPT-2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transformer blocks fine-tuned.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Highest raw capacity.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Best Accuracy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LoRA  r=8,a=16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30936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5D04"/>
                </a:solidFill>
              </a:rPr>
              <a:t>63.76M params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63.7 M total</a:t>
            </a:r>
          </a:p>
        </p:txBody>
      </p:sp>
      <p:sp>
        <p:nvSpPr>
          <p:cNvPr id="29" name="Shape 27"/>
          <p:cNvSpPr/>
          <p:nvPr/>
        </p:nvSpPr>
        <p:spPr>
          <a:xfrm>
            <a:off x="640080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2764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Low-rank adapters injected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into GPT-2 attention layers via PEFT.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alpha=16, scaling factor = 2.0.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Most Efficient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 TRAINING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COCO 2017 (106K train, ~6K </a:t>
            </a:r>
            <a:r>
              <a:rPr lang="en-US" sz="2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</a:t>
            </a: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~6K test)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943600" y="128016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943600" y="1280160"/>
            <a:ext cx="64008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080760" y="13441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1: Frozen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080760" y="1618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20 epochs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080760" y="1920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Early stopped, patience=3</a:t>
            </a:r>
          </a:p>
        </p:txBody>
      </p:sp>
      <p:sp>
        <p:nvSpPr>
          <p:cNvPr id="12" name="Shape 9"/>
          <p:cNvSpPr/>
          <p:nvPr/>
        </p:nvSpPr>
        <p:spPr>
          <a:xfrm>
            <a:off x="5943600" y="251460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943600" y="2514600"/>
            <a:ext cx="64008" cy="100584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080760" y="25786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2: FT-4L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080760" y="28529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6E4F"/>
                </a:solidFill>
              </a:rPr>
              <a:t>15 epochs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080760" y="31546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Converges faster with LR=5e-5</a:t>
            </a:r>
          </a:p>
        </p:txBody>
      </p:sp>
      <p:sp>
        <p:nvSpPr>
          <p:cNvPr id="17" name="Shape 14"/>
          <p:cNvSpPr/>
          <p:nvPr/>
        </p:nvSpPr>
        <p:spPr>
          <a:xfrm>
            <a:off x="5943600" y="374904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943600" y="3749040"/>
            <a:ext cx="64008" cy="100584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80760" y="3813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3: </a:t>
            </a:r>
            <a:r>
              <a:rPr lang="en-US" sz="1400" b="1" dirty="0" err="1">
                <a:solidFill>
                  <a:srgbClr val="0D1B2A"/>
                </a:solidFill>
              </a:rPr>
              <a:t>LoRA</a:t>
            </a:r>
            <a:r>
              <a:rPr lang="en-US" sz="1400" b="1" dirty="0">
                <a:solidFill>
                  <a:srgbClr val="0D1B2A"/>
                </a:solidFill>
              </a:rPr>
              <a:t> (r=8, scale =2)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080760" y="4087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D04"/>
                </a:solidFill>
              </a:rPr>
              <a:t>15 epochs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080760" y="43891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Should change params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BC97F7C-E393-56B6-ABF8-96588A439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45558"/>
            <a:ext cx="5303520" cy="30063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val2017: 500 Images - All Configurations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280160"/>
            <a:ext cx="5303520" cy="34747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Best per Model (Beam Search)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852160" y="1691640"/>
            <a:ext cx="2926080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0" y="169164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Model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CIDEr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8638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BLEU-4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52160" y="2185416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852160" y="2185416"/>
            <a:ext cx="64008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43600" y="218541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Frozen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494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8638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0.2896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679192"/>
            <a:ext cx="2926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52160" y="2679192"/>
            <a:ext cx="64008" cy="43891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43600" y="267919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FT-4L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494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8638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0.2917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852160" y="3172968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52160" y="3172968"/>
            <a:ext cx="64008" cy="43891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943600" y="31729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LoRA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494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0.5556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8638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0.1835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852160" y="3749040"/>
            <a:ext cx="2926080" cy="10972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94360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B731"/>
                </a:solidFill>
              </a:rPr>
              <a:t>Key Insight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943600" y="4041648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Frozen/Beam = FT-4L/Beam on CIDEr despite 67M fewer parameters</a:t>
            </a:r>
            <a:endParaRPr lang="en-US" sz="1200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C8F1C33C-178A-E053-B55B-66CF6A65D942}"/>
              </a:ext>
            </a:extLst>
          </p:cNvPr>
          <p:cNvSpPr/>
          <p:nvPr/>
        </p:nvSpPr>
        <p:spPr>
          <a:xfrm>
            <a:off x="365760" y="4825218"/>
            <a:ext cx="5212080" cy="239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</a:rPr>
              <a:t>Change </a:t>
            </a:r>
            <a:r>
              <a:rPr lang="en-US" sz="1600" b="1" dirty="0" err="1">
                <a:solidFill>
                  <a:srgbClr val="FF0000"/>
                </a:solidFill>
              </a:rPr>
              <a:t>LoRA</a:t>
            </a:r>
            <a:r>
              <a:rPr lang="en-US" sz="1600" b="1" dirty="0">
                <a:solidFill>
                  <a:srgbClr val="FF0000"/>
                </a:solidFill>
              </a:rPr>
              <a:t> r=32, scale =2; Evaluate on 5000 images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Evaluation Heatmap: 9 Configurations x 5 Metrics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470580" y="1239570"/>
            <a:ext cx="6759019" cy="31000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659344"/>
            <a:ext cx="8412480" cy="369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/>
              <a:t>Warmer colors = higher score within each metric column. </a:t>
            </a:r>
          </a:p>
          <a:p>
            <a:pPr marL="0" indent="0" algn="ctr">
              <a:buNone/>
            </a:pPr>
            <a:r>
              <a:rPr lang="en-US" sz="1200" i="1" dirty="0"/>
              <a:t>Best row: FT-4L / Beam (highlighted).  Evaluation on COCO val2017, 500 images.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Multi-Metric Radar: Best Strategy per Model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564890"/>
            <a:ext cx="5943600" cy="2286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92240" y="137160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492240" y="1371600"/>
            <a:ext cx="54864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20256" y="1426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Frozen / Beam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20256" y="170078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Competitive on all metrics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with zero LM fine-tuning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92240" y="256032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92240" y="2560320"/>
            <a:ext cx="54864" cy="96012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620256" y="26151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FT-4L / Beam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620256" y="28895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Best METEOR (0.474)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Marginally better than Frozen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92240" y="374904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92240" y="3749040"/>
            <a:ext cx="54864" cy="9601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620256" y="3803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LoRA / Beam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620256" y="40782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Lower scores on COCO scale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Parametric efficiency trade-off -&gt; upgrade by r=32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B0"/>
                </a:solidFill>
              </a:rPr>
              <a:t>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 SENSITIVITY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Width Sweep: CIDEr and BLEU-4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627632"/>
            <a:ext cx="5852160" cy="2715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Beam Sweep Results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0" y="162763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6446520" y="162763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08660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0.5109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90956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0.1553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06654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6446520" y="20665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08660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0.5638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90956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0.1690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0" y="2505456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6446520" y="250545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08660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0.5861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90956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0.1739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0" y="2944368"/>
            <a:ext cx="2377440" cy="402336"/>
          </a:xfrm>
          <a:prstGeom prst="rect">
            <a:avLst/>
          </a:prstGeom>
          <a:solidFill>
            <a:srgbClr val="0B6E4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6446520" y="29443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w=5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08660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B731"/>
                </a:solidFill>
              </a:rPr>
              <a:t>0.6099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90956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0.1775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0" y="3383280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446520" y="338328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w=8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08660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0.5718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90956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0.1654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00800" y="3822192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6446520" y="382219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w=10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08660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0.5684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90956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0.1639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33" name="Text 30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B731"/>
                </a:solidFill>
              </a:rPr>
              <a:t>Recommended: w = 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B0"/>
                </a:solidFill>
              </a:rPr>
              <a:t>11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 SENSITIVITY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Sweep: Accuracy vs. Diversity Trade-off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630554"/>
            <a:ext cx="5852160" cy="29832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Accuracy - Diversity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0" y="1609344"/>
            <a:ext cx="2377440" cy="402336"/>
          </a:xfrm>
          <a:prstGeom prst="rect">
            <a:avLst/>
          </a:prstGeom>
          <a:solidFill>
            <a:srgbClr val="E85D04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6446520" y="160934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t=0.3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9516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B731"/>
                </a:solidFill>
              </a:rPr>
              <a:t>0.464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1812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CE5EF"/>
                </a:solidFill>
              </a:rPr>
              <a:t>0.552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048256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6446520" y="204825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t=0.5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0.375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81812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0.625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0" y="2487168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6446520" y="248716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t=0.7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99516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0.283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81812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0.705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0" y="2926080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6446520" y="292608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t=0.8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99516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0.229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81812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0.787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0" y="336499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446520" y="336499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t=1.0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9516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0.076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81812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0.899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00800" y="380390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6446520" y="380390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t=1.2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99516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0.028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81812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0.970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995160" y="42245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/>
              <a:t>CIDEr / Distinct-2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34" name="Text 31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Use t=0.3 for accuracy, t=0.5 for diversity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BB0"/>
                </a:solidFill>
              </a:rPr>
              <a:t>12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 FINDINGS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502920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36576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CIDEr 0.9364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Prefix conditioning works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without LM fine-tuning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Frozen/Beam matches FT-4L/Beam exactly. ProjectionHead alone provides sufficient visual conditioning on 118K images.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0060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F7B7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14" name="Shape 12"/>
          <p:cNvSpPr/>
          <p:nvPr/>
        </p:nvSpPr>
        <p:spPr>
          <a:xfrm>
            <a:off x="4800600" y="1005840"/>
            <a:ext cx="502920" cy="18288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5" name="Text 13"/>
          <p:cNvSpPr/>
          <p:nvPr/>
        </p:nvSpPr>
        <p:spPr>
          <a:xfrm>
            <a:off x="480060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818120" y="1074624"/>
            <a:ext cx="1024128" cy="429768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781812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+12% vs Greedy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9496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Beam search wins on all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accuracy metrics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9496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Beam search outperforms greedy and nucleus across all 3 models. Gap is largest for LoRA (+12.4% CIDEr).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576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1" name="Shape 19"/>
          <p:cNvSpPr/>
          <p:nvPr/>
        </p:nvSpPr>
        <p:spPr>
          <a:xfrm>
            <a:off x="365760" y="3017520"/>
            <a:ext cx="502920" cy="1828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03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4" name="Text 22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w=5 on COCO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6012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Optimal beam width is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dataset-dependent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012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w=5 peaks on COCO vs. w=8 on Flickr30k. Tune on a held-out validation set, not fixed heuristics.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80060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8" name="Shape 26"/>
          <p:cNvSpPr/>
          <p:nvPr/>
        </p:nvSpPr>
        <p:spPr>
          <a:xfrm>
            <a:off x="4800600" y="3017520"/>
            <a:ext cx="502920" cy="18288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9" name="Text 27"/>
          <p:cNvSpPr/>
          <p:nvPr/>
        </p:nvSpPr>
        <p:spPr>
          <a:xfrm>
            <a:off x="480060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04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7818120" y="3072656"/>
            <a:ext cx="1024128" cy="438912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31" name="Text 29"/>
          <p:cNvSpPr/>
          <p:nvPr/>
        </p:nvSpPr>
        <p:spPr>
          <a:xfrm>
            <a:off x="781812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CIDEr: 0.46→0.03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39496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Temperature degrades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accuracy monotonically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39496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CIDEr drops from 0.46 at t=0.3 to 0.03 at t=1.2. Diversity rises proportionally. Use t=0.3 for factual captioning.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 ETHICS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Considerations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4160520" cy="4572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 Bias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COCO was annotated by workers with Western, English-speaking demographics:</a:t>
            </a:r>
            <a:br>
              <a:rPr lang="en-US" sz="1200" dirty="0">
                <a:solidFill>
                  <a:srgbClr val="1C2B3A"/>
                </a:solidFill>
              </a:rPr>
            </a:br>
            <a:r>
              <a:rPr lang="en-US" sz="1200" dirty="0">
                <a:solidFill>
                  <a:srgbClr val="1C2B3A"/>
                </a:solidFill>
              </a:rPr>
              <a:t>- Cultural bias</a:t>
            </a:r>
          </a:p>
          <a:p>
            <a:pPr algn="just"/>
            <a:r>
              <a:rPr lang="en-US" sz="1200" dirty="0"/>
              <a:t>- Linguistic bias</a:t>
            </a:r>
          </a:p>
          <a:p>
            <a:pPr algn="just"/>
            <a:r>
              <a:rPr lang="en-US" sz="1200" dirty="0">
                <a:sym typeface="Wingdings" pitchFamily="2" charset="2"/>
              </a:rPr>
              <a:t> Train on diverse multilingual datasets; evaluate across demographics</a:t>
            </a:r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00600" y="1280160"/>
            <a:ext cx="41605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1032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Misrepresentation Risk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1032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Models generate confident captions even for out-of-distribution images. In accessibility tools (screen reader alt-text), incorrect captions actively mislead visually impaired users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Deploy with human-in-loop for high-impact accessibility applications</a:t>
            </a:r>
          </a:p>
        </p:txBody>
      </p:sp>
      <p:sp>
        <p:nvSpPr>
          <p:cNvPr id="14" name="Shape 12"/>
          <p:cNvSpPr/>
          <p:nvPr/>
        </p:nvSpPr>
        <p:spPr>
          <a:xfrm>
            <a:off x="36576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08960"/>
            <a:ext cx="4160520" cy="4572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Accessibility Value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CIDEr 0.93 on common COCO scenes approaches usable quality for assistive technology. 253 million visually impaired people could benefit from automatic alt-text generation when deployed responsibly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</a:t>
            </a:r>
            <a:r>
              <a:rPr lang="en-US" sz="1200" dirty="0">
                <a:solidFill>
                  <a:srgbClr val="1C2B3A"/>
                </a:solidFill>
              </a:rPr>
              <a:t>Human review pipeline; confidence thresholds; grounding supervision</a:t>
            </a:r>
          </a:p>
        </p:txBody>
      </p:sp>
      <p:sp>
        <p:nvSpPr>
          <p:cNvPr id="18" name="Shape 16"/>
          <p:cNvSpPr/>
          <p:nvPr/>
        </p:nvSpPr>
        <p:spPr>
          <a:xfrm>
            <a:off x="480060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00600" y="3108960"/>
            <a:ext cx="4160520" cy="4572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1032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Privacy &amp; Surveillance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1032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Automatic scene description at scale could enable mass surveillance by generating textual logs from camera feeds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Consent frameworks; on-device processing; data minimization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</a:t>
            </a: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Interactive Web Dashboard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98448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98448"/>
            <a:ext cx="54864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353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Live Inference (Both CLI and Web)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Upload any image, select model and strategy, generate captions in real time with preprocessing pipeline visualization.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2231136"/>
            <a:ext cx="54864" cy="7863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Dynamic Metrics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2578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No Ground-Truth panel: CLIPScore, Perplexity, Grammar Score computed instantly. GT References panel: BLEU/METEOR/CIDEr.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163824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63824"/>
            <a:ext cx="54864" cy="78638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32186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Sensitivity Analysis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35112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Real-time 12-inference sweep on your image. Static COCO 500 charts for beam width and temperature.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4096512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65760" y="4096512"/>
            <a:ext cx="54864" cy="786384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41513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Analysis</a:t>
            </a:r>
            <a:r>
              <a:rPr lang="en-US" sz="1200" b="1" dirty="0">
                <a:solidFill>
                  <a:srgbClr val="0D1B2A"/>
                </a:solidFill>
              </a:rPr>
              <a:t> </a:t>
            </a:r>
            <a:r>
              <a:rPr lang="en-US" sz="1600" b="1" dirty="0">
                <a:solidFill>
                  <a:srgbClr val="0D1B2A"/>
                </a:solidFill>
              </a:rPr>
              <a:t>Page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2920" y="444398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Key findings and ethical considerations grounded in COCO 500 evaluation data.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77840" y="1298448"/>
            <a:ext cx="3200400" cy="2971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0" y="13898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B731"/>
                </a:solidFill>
              </a:rPr>
              <a:t>LAUNCH DEMO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669280" y="1828800"/>
            <a:ext cx="3017520" cy="1371600"/>
          </a:xfrm>
          <a:prstGeom prst="rect">
            <a:avLst/>
          </a:prstGeom>
          <a:solidFill>
            <a:srgbClr val="081522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760720" y="192024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Web app: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run.sh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CLI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1A936F"/>
                </a:solidFill>
                <a:latin typeface="Courier New" pitchFamily="34" charset="0"/>
                <a:cs typeface="Courier New" pitchFamily="34" charset="-120"/>
              </a:rPr>
              <a:t>demo.ipynb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33375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Go ahead….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C5E7F7-CB37-94D3-C431-C6646AAEF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F19EA2C5-C8F7-4EC4-FE1F-E867EB179FAC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3779280-AF5A-972C-9F08-27E5E35727F0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C996E83-61AD-E221-35ED-7A79C41A97EE}"/>
              </a:ext>
            </a:extLst>
          </p:cNvPr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0FCADEF4-AE4C-1081-E9D8-F93F54195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26875"/>
            <a:ext cx="7772400" cy="391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5447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AF00ED-8023-214D-72E7-41A08C51F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7D6DF371-43A1-4223-AF6C-8D16E2352152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7646AD7-5062-8FA4-C136-10C78CFC4B2D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2963D70-4B59-FADD-7206-F3880F820C94}"/>
              </a:ext>
            </a:extLst>
          </p:cNvPr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C737852-8129-A40F-BC55-262D1D464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88400"/>
            <a:ext cx="7772400" cy="391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954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47D692-A331-1DD9-AE74-49578198C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8B5A133A-F3CF-949E-4F83-1E71B3197798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4861AD2-D435-F6CF-7C4A-034D9ECDFA58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7546EBD-FEDB-7680-F92C-AB003C46E870}"/>
              </a:ext>
            </a:extLst>
          </p:cNvPr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B07675-1475-088D-7530-B81647514B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26781"/>
            <a:ext cx="7772400" cy="391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2560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C07764-55BD-8CB9-28AA-4DB343688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8F1A7BE-EE1A-2E30-B387-CA30303816DF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43AA857-75AD-B3F6-2654-8A71E7469F69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1DF086-BE08-0FD9-0BCC-EE27ED5E295A}"/>
              </a:ext>
            </a:extLst>
          </p:cNvPr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087186-C23A-0473-3BD9-9A2396300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26781"/>
            <a:ext cx="7772400" cy="391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6629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EBCB3C-AF8B-6653-4D02-D137B834F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51E6D45-A180-67F6-4440-7272DF598997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2895F96-BC48-6BCA-98BA-07FF6BD3FFBB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CB43DCA-504F-9357-F61C-77FF01141A2B}"/>
              </a:ext>
            </a:extLst>
          </p:cNvPr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2A0F1B-C8DE-A807-7E74-6DADF8999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921" y="1076313"/>
            <a:ext cx="6918158" cy="4067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4991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2C79E0-0CCA-33AD-C5C1-27F8BCB37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A6DECCC-12C1-A375-E0E1-081E853D52F8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3A64D2E-CEE0-2DE2-5E5B-CCB5EE435D0F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70FF778-CAA0-B8B1-7340-27D13CA2AE8B}"/>
              </a:ext>
            </a:extLst>
          </p:cNvPr>
          <p:cNvSpPr/>
          <p:nvPr/>
        </p:nvSpPr>
        <p:spPr>
          <a:xfrm>
            <a:off x="365760" y="42255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9D73AB-8895-0180-60AB-F51E53807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347" y="963139"/>
            <a:ext cx="7110663" cy="4180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8232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B25E68-F763-8792-31E5-803CD45A8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2B0891C3-585C-A7BC-35FA-1C8C23729D2E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304C4E-BC44-9801-4122-0E9209236BD3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A57517C-EECC-DE64-C45E-DC1BFACF571F}"/>
              </a:ext>
            </a:extLst>
          </p:cNvPr>
          <p:cNvSpPr/>
          <p:nvPr/>
        </p:nvSpPr>
        <p:spPr>
          <a:xfrm>
            <a:off x="365760" y="42255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169CD0A-D2AB-AFED-EAF4-FA8B09C2EA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437" y="866274"/>
            <a:ext cx="7229382" cy="4250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841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C97ECE-9C98-152F-CD9A-3E980297E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18F61D49-124B-3F2B-3322-BFFFBDF619D5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37B07AC-7D20-CC7A-97DA-ACA9AFA1D5E7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4398589-9967-A1A4-9476-07BD4E60C66C}"/>
              </a:ext>
            </a:extLst>
          </p:cNvPr>
          <p:cNvSpPr/>
          <p:nvPr/>
        </p:nvSpPr>
        <p:spPr>
          <a:xfrm>
            <a:off x="365760" y="42255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n-US" sz="2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E68A3C-5C2B-43B7-E42C-0643C3F31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338" y="1284012"/>
            <a:ext cx="8367902" cy="2985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2808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B302F7-A72C-EBC1-7823-DC49414D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5750BCEF-27B5-6330-3E33-D855F9A987F3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5ABBBFE-96CB-7E47-AD7C-00CCD3D175EA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D1C65C8-53D7-15CE-02D8-B8120B981327}"/>
              </a:ext>
            </a:extLst>
          </p:cNvPr>
          <p:cNvSpPr/>
          <p:nvPr/>
        </p:nvSpPr>
        <p:spPr>
          <a:xfrm>
            <a:off x="365760" y="42255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n-US" sz="2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7DF8B2-9351-4204-9A76-3061E3E96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1062630"/>
            <a:ext cx="3810000" cy="264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445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19D53C-2BB6-04FA-50DF-876244B39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1C3309B4-A05E-21F1-D7E9-DDFB6EE1A847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EBDA0C6-121D-4A09-8B7B-94B5C7193F33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32AD0B-B50D-7160-7792-3771172EC7DD}"/>
              </a:ext>
            </a:extLst>
          </p:cNvPr>
          <p:cNvSpPr/>
          <p:nvPr/>
        </p:nvSpPr>
        <p:spPr>
          <a:xfrm>
            <a:off x="365760" y="42255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n-US" sz="2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D14359-702D-C79F-27E4-9E3CEF09D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05833"/>
            <a:ext cx="7772400" cy="2531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9260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DFA2B2-28D1-0B64-6D14-43C3619FE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6A6026C7-67B6-8219-9773-71610A2F6266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1CCF120-F8F8-D01E-5C47-72069AF57897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80FE877-740B-C04D-250F-EE345351CAB4}"/>
              </a:ext>
            </a:extLst>
          </p:cNvPr>
          <p:cNvSpPr/>
          <p:nvPr/>
        </p:nvSpPr>
        <p:spPr>
          <a:xfrm>
            <a:off x="365760" y="42255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n-US" sz="2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AAC93C5-56D8-654E-7DD3-3ECB48843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850" y="1117600"/>
            <a:ext cx="6210300" cy="290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740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147096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CE5EF"/>
                </a:solidFill>
              </a:rPr>
              <a:t>Best result: FT-4L / Beam achieves CIDEr 0.9364 on COCO val2017 (500 images). Frozen / Beam ties exactly with 67M fewer parameters, validating prefix conditioning as an effective approach.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384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B731"/>
                </a:solidFill>
              </a:rPr>
              <a:t>Future Directions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76500" y="2963133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476500" y="2963133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13660" y="2963133"/>
            <a:ext cx="487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CE5EF"/>
                </a:solidFill>
              </a:rPr>
              <a:t>Cross-attention conditioning to overcome the 10-token prefix bottleneck -&gt; map GPT-2, like BLIP-2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76500" y="3475197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76500" y="3475197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13660" y="3475197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5EF"/>
                </a:solidFill>
              </a:rPr>
              <a:t>Larger CLIP encoder (ViT-L/14, 768-d) for richer visual representation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76500" y="3987261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476500" y="3987261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13660" y="3987261"/>
            <a:ext cx="487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CE5EF"/>
                </a:solidFill>
              </a:rPr>
              <a:t>BLIP-2 (3.1B, Q-Former) / GIT (680M, Unified Transformer) comparison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1214</Words>
  <Application>Microsoft Macintosh PowerPoint</Application>
  <PresentationFormat>On-screen Show (16:9)</PresentationFormat>
  <Paragraphs>318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VisCaption: Image-to-Text Generation</dc:title>
  <dc:subject>PptxGenJS Presentation</dc:subject>
  <dc:creator>Group 8 — IE 7615</dc:creator>
  <cp:lastModifiedBy>Hung Le</cp:lastModifiedBy>
  <cp:revision>190</cp:revision>
  <cp:lastPrinted>2026-04-16T15:15:58Z</cp:lastPrinted>
  <dcterms:created xsi:type="dcterms:W3CDTF">2026-04-04T22:41:00Z</dcterms:created>
  <dcterms:modified xsi:type="dcterms:W3CDTF">2026-04-16T17:53:48Z</dcterms:modified>
</cp:coreProperties>
</file>