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00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004645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035040" y="0"/>
            <a:ext cx="3108960" cy="5143500"/>
          </a:xfrm>
          <a:prstGeom prst="rect">
            <a:avLst/>
          </a:prstGeom>
          <a:solidFill>
            <a:srgbClr val="081522"/>
          </a:solidFill>
          <a:ln w="12700">
            <a:solidFill>
              <a:srgbClr val="0815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VisCaption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365760" y="17830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i="1" dirty="0">
                <a:solidFill>
                  <a:srgbClr val="F7B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Image-to-Text Generation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228600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CLIP Vision Encoders and GPT-2 Language Decoders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971800"/>
            <a:ext cx="3200400" cy="36576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3127248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 7615 Deep Learning for AI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Northeastern University  |  Spring 2026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8: Quoc Hung Le, Khoa Tran, Hassan Alfareed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Instructor: Prof. Xuemin Jin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17220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A9BB0"/>
                </a:solidFill>
              </a:rPr>
              <a:t>COCO 2017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172200" y="1005840"/>
            <a:ext cx="2743200" cy="777240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172200" y="102412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7B731"/>
                </a:solidFill>
              </a:rPr>
              <a:t>118 K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172200" y="14356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BB0"/>
                </a:solidFill>
              </a:rPr>
              <a:t>Training Images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72200" y="1965960"/>
            <a:ext cx="2743200" cy="777240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172200" y="198424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7B731"/>
                </a:solidFill>
              </a:rPr>
              <a:t>500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172200" y="23957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BB0"/>
                </a:solidFill>
              </a:rPr>
              <a:t>Val Images Evaluated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72200" y="2926080"/>
            <a:ext cx="2743200" cy="777240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172200" y="29443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7B731"/>
                </a:solidFill>
              </a:rPr>
              <a:t>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172200" y="33558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BB0"/>
                </a:solidFill>
              </a:rPr>
              <a:t>Fine-tuning Strategies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72200" y="3886200"/>
            <a:ext cx="2743200" cy="777240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172200" y="39044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7B731"/>
                </a:solidFill>
              </a:rPr>
              <a:t>0.9364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6172200" y="43159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BB0"/>
                </a:solidFill>
              </a:rPr>
              <a:t>Best CIDEr Score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Outline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24128" y="11521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</a:rPr>
              <a:t>Problem &amp; Motivation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149961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A9BB0"/>
                </a:solidFill>
              </a:rPr>
              <a:t>Why image captioning matters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029968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2029968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2029968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24128" y="20848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</a:rPr>
              <a:t>Architecture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24128" y="24323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A9BB0"/>
                </a:solidFill>
              </a:rPr>
              <a:t>CLIP + ProjectionHead + GPT-2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962656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200" y="2962656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2962656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24128" y="301752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</a:rPr>
              <a:t>Fine-Tuning Strategies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24128" y="336499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A9BB0"/>
                </a:solidFill>
              </a:rPr>
              <a:t>Frozen vs FT-4L vs LoRA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57200" y="3895344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3895344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24128" y="395020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</a:rPr>
              <a:t>Results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24128" y="429768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A9BB0"/>
                </a:solidFill>
              </a:rPr>
              <a:t>COCO 500-image benchmark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46320" y="1097280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846320" y="1097280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846320" y="1097280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413248" y="11521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</a:rPr>
              <a:t>Sensitivity Analysis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13248" y="149961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A9BB0"/>
                </a:solidFill>
              </a:rPr>
              <a:t>Beam width and temperature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46320" y="2029968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846320" y="2029968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46320" y="2029968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413248" y="20848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</a:rPr>
              <a:t>Key Findings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413248" y="24323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A9BB0"/>
                </a:solidFill>
              </a:rPr>
              <a:t>What the numbers tell us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846320" y="2962656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846320" y="2962656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846320" y="2962656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07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5413248" y="301752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</a:rPr>
              <a:t>Ethical Considerations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413248" y="336499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A9BB0"/>
                </a:solidFill>
              </a:rPr>
              <a:t>Bias, risk, and responsibility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01 MOTIVATION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Image Captioning?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2651760" cy="155448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" y="15087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</a:rPr>
              <a:t>253M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65760" y="22402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CE5EF"/>
                </a:solidFill>
              </a:rPr>
              <a:t>visually impaired people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DCE5EF"/>
                </a:solidFill>
              </a:rPr>
              <a:t>globally need alt-text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417320"/>
            <a:ext cx="2651760" cy="1554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91840" y="15087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</a:rPr>
              <a:t>2X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291840" y="22402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CE5EF"/>
                </a:solidFill>
              </a:rPr>
              <a:t>faster content indexing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DCE5EF"/>
                </a:solidFill>
              </a:rPr>
              <a:t>with auto-generated metadata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417320"/>
            <a:ext cx="2651760" cy="155448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217920" y="15087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</a:rPr>
              <a:t>90%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217920" y="22402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CE5EF"/>
                </a:solidFill>
              </a:rPr>
              <a:t>of web images lack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DCE5EF"/>
                </a:solidFill>
              </a:rPr>
              <a:t>accessible descriptions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3154680"/>
            <a:ext cx="8412480" cy="1645920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65760" y="3154680"/>
            <a:ext cx="64008" cy="1645920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3246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</a:rPr>
              <a:t>The Task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356616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C2B3A"/>
                </a:solidFill>
              </a:rPr>
              <a:t>Given an arbitrary image, generate a fluent, accurate natural-language description of its content — without any human annotation at inference time.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4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02 ARCHITECTURE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Pipeline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74320" y="1261872"/>
            <a:ext cx="1508760" cy="13258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4320" y="14813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Image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Input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" y="210312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5EF"/>
                </a:solidFill>
              </a:rPr>
              <a:t>Any resolution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783080" y="2011680"/>
            <a:ext cx="210312" cy="73152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993392" y="1261872"/>
            <a:ext cx="1508760" cy="132588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993392" y="14813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CLIP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ViT-B/32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993392" y="210312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5EF"/>
                </a:solidFill>
              </a:rPr>
              <a:t>Frozen encoder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DCE5EF"/>
                </a:solidFill>
              </a:rPr>
              <a:t>512-d embedding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502152" y="2011680"/>
            <a:ext cx="210312" cy="73152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712464" y="1261872"/>
            <a:ext cx="1508760" cy="1325880"/>
          </a:xfrm>
          <a:prstGeom prst="rect">
            <a:avLst/>
          </a:prstGeom>
          <a:solidFill>
            <a:srgbClr val="1A936F"/>
          </a:solidFill>
          <a:ln w="12700">
            <a:solidFill>
              <a:srgbClr val="1A93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712464" y="14813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Projection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Head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712464" y="210312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5EF"/>
                </a:solidFill>
              </a:rPr>
              <a:t>2-layer MLP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DCE5EF"/>
                </a:solidFill>
              </a:rPr>
              <a:t>10 prefix tokens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221224" y="2011680"/>
            <a:ext cx="210312" cy="73152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431536" y="1261872"/>
            <a:ext cx="1508760" cy="132588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431536" y="14813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GPT-2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Decoder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31536" y="210312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5EF"/>
                </a:solidFill>
              </a:rPr>
              <a:t>117M params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DCE5EF"/>
                </a:solidFill>
              </a:rPr>
              <a:t>Autoregressive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940296" y="2011680"/>
            <a:ext cx="210312" cy="73152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150608" y="1261872"/>
            <a:ext cx="1508760" cy="13258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150608" y="14813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Caption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Output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150608" y="210312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5EF"/>
                </a:solidFill>
              </a:rPr>
              <a:t>Natural language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DCE5EF"/>
                </a:solidFill>
              </a:rPr>
              <a:t>description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874520" y="9875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6E4F"/>
                </a:solidFill>
              </a:rPr>
              <a:t>512-d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593592" y="9875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6E4F"/>
                </a:solidFill>
              </a:rPr>
              <a:t>10x768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312664" y="9875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6E4F"/>
                </a:solidFill>
              </a:rPr>
              <a:t>50 tokens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65760" y="3017520"/>
            <a:ext cx="8412480" cy="1828800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65760" y="3017520"/>
            <a:ext cx="64008" cy="182880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48640" y="30906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ProjectionHead Detail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48640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B6E4F"/>
                </a:solidFill>
              </a:rPr>
              <a:t>Linear(512→7680)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792224" y="3621024"/>
            <a:ext cx="146304" cy="36576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1938528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1938528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B6E4F"/>
                </a:solidFill>
              </a:rPr>
              <a:t>GELU Activation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3182112" y="3621024"/>
            <a:ext cx="146304" cy="36576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3328416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3328416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B6E4F"/>
                </a:solidFill>
              </a:rPr>
              <a:t>Dropout(p=0.1)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572000" y="3621024"/>
            <a:ext cx="146304" cy="36576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718304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718304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B6E4F"/>
                </a:solidFill>
              </a:rPr>
              <a:t>Linear(7680→7680)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961888" y="3621024"/>
            <a:ext cx="146304" cy="36576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6108192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108192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B6E4F"/>
                </a:solidFill>
              </a:rPr>
              <a:t>LayerNorm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351776" y="3621024"/>
            <a:ext cx="146304" cy="36576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7498080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7498080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B6E4F"/>
                </a:solidFill>
              </a:rPr>
              <a:t>Reshape→(10, 768)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48640" y="3931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C2B3A"/>
                </a:solidFill>
              </a:rPr>
              <a:t>Image prefix conditioning: visual context is injected as 10 learnable prefix tokens prepended to GPT-2's input.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03 FINE-TUNING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Training Strategies Compared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265176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1371600"/>
            <a:ext cx="2651760" cy="5943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13716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Frozen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0574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0.6 M trainable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23317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BB0"/>
                </a:solidFill>
              </a:rPr>
              <a:t>62.9 M total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2651760"/>
            <a:ext cx="2286000" cy="27432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75488" y="2743200"/>
            <a:ext cx="24323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C2B3A"/>
                </a:solidFill>
              </a:rPr>
              <a:t>Only ProjectionHead is trained.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C2B3A"/>
                </a:solidFill>
              </a:rPr>
              <a:t>GPT-2 weights stay completely fixed.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C2B3A"/>
                </a:solidFill>
              </a:rPr>
              <a:t>Fastest to train, smallest memory footprint.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4114800"/>
            <a:ext cx="1920240" cy="34747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411480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Baseline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91840" y="1371600"/>
            <a:ext cx="265176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291840" y="1371600"/>
            <a:ext cx="2651760" cy="59436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91840" y="13716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FT-4L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383280" y="20574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6E4F"/>
                </a:solidFill>
              </a:rPr>
              <a:t>67.6 M trainable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383280" y="23317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BB0"/>
                </a:solidFill>
              </a:rPr>
              <a:t>129.9 M total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74720" y="2651760"/>
            <a:ext cx="2286000" cy="27432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401568" y="2743200"/>
            <a:ext cx="24323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C2B3A"/>
                </a:solidFill>
              </a:rPr>
              <a:t>ProjectionHead + last 4 GPT-2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C2B3A"/>
                </a:solidFill>
              </a:rPr>
              <a:t>transformer blocks fine-tuned.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C2B3A"/>
                </a:solidFill>
              </a:rPr>
              <a:t>Highest raw capacity.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0" y="4114800"/>
            <a:ext cx="1920240" cy="34747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657600" y="411480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Best Accuracy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17920" y="1371600"/>
            <a:ext cx="265176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217920" y="1371600"/>
            <a:ext cx="2651760" cy="59436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217920" y="13716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LoRA  r=8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309360" y="20574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5D04"/>
                </a:solidFill>
              </a:rPr>
              <a:t>0.8 M trainable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309360" y="23317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BB0"/>
                </a:solidFill>
              </a:rPr>
              <a:t>63.7 M total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400800" y="2651760"/>
            <a:ext cx="2286000" cy="27432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327648" y="2743200"/>
            <a:ext cx="24323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C2B3A"/>
                </a:solidFill>
              </a:rPr>
              <a:t>Low-rank adapters injected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C2B3A"/>
                </a:solidFill>
              </a:rPr>
              <a:t>into GPT-2 attention layers via PEFT.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C2B3A"/>
                </a:solidFill>
              </a:rPr>
              <a:t>alpha=16, scaling factor = 2.0.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583680" y="4114800"/>
            <a:ext cx="1920240" cy="347472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583680" y="411480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Most Efficient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6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03 TRAINING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Loss Curves — COCO 2017 (118K images)</a:t>
            </a:r>
            <a:endParaRPr lang="en-US" sz="2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2026762"/>
            <a:ext cx="5303520" cy="2819557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43600" y="1280160"/>
            <a:ext cx="283464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5943600" y="1280160"/>
            <a:ext cx="64008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080760" y="13441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Phase 1 — Frozen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080760" y="16184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~4 epochs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080760" y="19202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BB0"/>
                </a:solidFill>
              </a:rPr>
              <a:t>Early stopped, patience=3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943600" y="2514600"/>
            <a:ext cx="283464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943600" y="2514600"/>
            <a:ext cx="64008" cy="100584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080760" y="257860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Phase 2 — FT-4L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080760" y="285292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6E4F"/>
                </a:solidFill>
              </a:rPr>
              <a:t>~3 epochs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080760" y="31546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BB0"/>
                </a:solidFill>
              </a:rPr>
              <a:t>Converges faster with LR=5e-5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943600" y="3749040"/>
            <a:ext cx="283464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943600" y="3749040"/>
            <a:ext cx="64008" cy="100584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080760" y="381304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Phase 3 — LoRA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080760" y="40873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5D04"/>
                </a:solidFill>
              </a:rPr>
              <a:t>~3 epochs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080760" y="43891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BB0"/>
                </a:solidFill>
              </a:rPr>
              <a:t>Stable loss with adapters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7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04 RESULTS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COCO val2017 — 500 Images — All Configurations</a:t>
            </a:r>
            <a:endParaRPr lang="en-US" sz="2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1280160"/>
            <a:ext cx="5303520" cy="34747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0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Best per Model (Beam Search)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852160" y="1691640"/>
            <a:ext cx="2926080" cy="438912"/>
          </a:xfrm>
          <a:prstGeom prst="rect">
            <a:avLst/>
          </a:prstGeom>
          <a:solidFill>
            <a:srgbClr val="0D1B2A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943600" y="169164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Model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949440" y="169164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CIDEr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863840" y="169164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BLEU-4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852160" y="2185416"/>
            <a:ext cx="2926080" cy="438912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852160" y="2185416"/>
            <a:ext cx="64008" cy="43891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943600" y="2185416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Frozen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49440" y="218541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6E4F"/>
                </a:solidFill>
              </a:rPr>
              <a:t>0.9364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863840" y="218541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0.2896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852160" y="2679192"/>
            <a:ext cx="29260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852160" y="2679192"/>
            <a:ext cx="64008" cy="43891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5943600" y="2679192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FT-4L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949440" y="267919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6E4F"/>
                </a:solidFill>
              </a:rPr>
              <a:t>0.9364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863840" y="267919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0.2917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852160" y="3172968"/>
            <a:ext cx="2926080" cy="438912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5852160" y="3172968"/>
            <a:ext cx="64008" cy="438912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5943600" y="317296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LoRA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49440" y="3172968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6E4F"/>
                </a:solidFill>
              </a:rPr>
              <a:t>0.5556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863840" y="3172968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0.1835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852160" y="3749040"/>
            <a:ext cx="2926080" cy="109728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5943600" y="3794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7B731"/>
                </a:solidFill>
              </a:rPr>
              <a:t>Key Insight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5943600" y="4041648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Frozen/Beam = FT-4L/Beam on CIDEr despite 67M fewer parameters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04 RESULTS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Evaluation Heatmap — 9 Configurations x 5 Metrics</a:t>
            </a:r>
            <a:endParaRPr lang="en-US" sz="2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470580" y="1512530"/>
            <a:ext cx="6759019" cy="337951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8A9BB0"/>
                </a:solidFill>
              </a:rPr>
              <a:t>Warmer colors = higher score within each metric column.  Best row: FT-4L / Beam (highlighted).  Evaluation on COCO val2017, 500 images.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9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04 RESULTS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Multi-Metric Radar — Best Strategy per Model</a:t>
            </a:r>
            <a:endParaRPr lang="en-US" sz="2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1234440"/>
            <a:ext cx="5943600" cy="22860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92240" y="1371600"/>
            <a:ext cx="2286000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6492240" y="1371600"/>
            <a:ext cx="54864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620256" y="14264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Frozen / Beam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620256" y="170078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B3A"/>
                </a:solidFill>
              </a:rPr>
              <a:t>Competitive on all metrics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C2B3A"/>
                </a:solidFill>
              </a:rPr>
              <a:t>with zero LM fine-tuning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492240" y="2560320"/>
            <a:ext cx="2286000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492240" y="2560320"/>
            <a:ext cx="54864" cy="96012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620256" y="26151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FT-4L / Beam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20256" y="288950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B3A"/>
                </a:solidFill>
              </a:rPr>
              <a:t>Best METEOR (0.474)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C2B3A"/>
                </a:solidFill>
              </a:rPr>
              <a:t>Marginally better than Frozen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492240" y="3749040"/>
            <a:ext cx="2286000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6492240" y="3749040"/>
            <a:ext cx="54864" cy="96012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620256" y="38039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LoRA / Beam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620256" y="407822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B3A"/>
                </a:solidFill>
              </a:rPr>
              <a:t>Lower scores on COCO scale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C2B3A"/>
                </a:solidFill>
              </a:rPr>
              <a:t>Parametric efficiency trade-off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10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05 SENSITIVITY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 Width Sweep — CIDEr and BLEU-4</a:t>
            </a:r>
            <a:endParaRPr lang="en-US" sz="2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1627632"/>
            <a:ext cx="5852160" cy="3108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0" y="1280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Beam Sweep Results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400800" y="1627632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46520" y="1627632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B3A"/>
                </a:solidFill>
              </a:rPr>
              <a:t>w=1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086600" y="162763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B6E4F"/>
                </a:solidFill>
              </a:rPr>
              <a:t>0.5109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909560" y="162763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C2B3A"/>
                </a:solidFill>
              </a:rPr>
              <a:t>0.1553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00800" y="2066544"/>
            <a:ext cx="2377440" cy="402336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446520" y="206654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B3A"/>
                </a:solidFill>
              </a:rPr>
              <a:t>w=2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086600" y="206654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B6E4F"/>
                </a:solidFill>
              </a:rPr>
              <a:t>0.5638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909560" y="206654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C2B3A"/>
                </a:solidFill>
              </a:rPr>
              <a:t>0.1690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00800" y="2505456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446520" y="2505456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B3A"/>
                </a:solidFill>
              </a:rPr>
              <a:t>w=3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086600" y="250545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B6E4F"/>
                </a:solidFill>
              </a:rPr>
              <a:t>0.5861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909560" y="250545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C2B3A"/>
                </a:solidFill>
              </a:rPr>
              <a:t>0.1739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400800" y="2944368"/>
            <a:ext cx="2377440" cy="402336"/>
          </a:xfrm>
          <a:prstGeom prst="rect">
            <a:avLst/>
          </a:prstGeom>
          <a:solidFill>
            <a:srgbClr val="0B6E4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446520" y="2944368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w=5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086600" y="294436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B731"/>
                </a:solidFill>
              </a:rPr>
              <a:t>0.6099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909560" y="294436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0.1775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400800" y="3383280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446520" y="338328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B3A"/>
                </a:solidFill>
              </a:rPr>
              <a:t>w=8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086600" y="33832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B6E4F"/>
                </a:solidFill>
              </a:rPr>
              <a:t>0.5718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7909560" y="33832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C2B3A"/>
                </a:solidFill>
              </a:rPr>
              <a:t>0.1654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400800" y="3822192"/>
            <a:ext cx="2377440" cy="402336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6446520" y="3822192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B3A"/>
                </a:solidFill>
              </a:rPr>
              <a:t>w=10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7086600" y="382219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B6E4F"/>
                </a:solidFill>
              </a:rPr>
              <a:t>0.5684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7909560" y="382219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C2B3A"/>
                </a:solidFill>
              </a:rPr>
              <a:t>0.1639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400800" y="4343400"/>
            <a:ext cx="2377440" cy="502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6400800" y="43434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7B731"/>
                </a:solidFill>
              </a:rPr>
              <a:t>Recommended: w = 5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11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05 SENSITIVITY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Sweep — Accuracy vs. Diversity Trade-off</a:t>
            </a:r>
            <a:endParaRPr lang="en-US" sz="2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1753386"/>
            <a:ext cx="5852160" cy="29832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0" y="1280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Accuracy - Diversity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400800" y="1609344"/>
            <a:ext cx="2377440" cy="402336"/>
          </a:xfrm>
          <a:prstGeom prst="rect">
            <a:avLst/>
          </a:prstGeom>
          <a:solidFill>
            <a:srgbClr val="E85D04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46520" y="1609344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t=0.3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995160" y="160934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7B731"/>
                </a:solidFill>
              </a:rPr>
              <a:t>0.464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818120" y="160934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CE5EF"/>
                </a:solidFill>
              </a:rPr>
              <a:t>0.552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400800" y="2048256"/>
            <a:ext cx="2377440" cy="402336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446520" y="2048256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B3A"/>
                </a:solidFill>
              </a:rPr>
              <a:t>t=0.5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995160" y="204825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B6E4F"/>
                </a:solidFill>
              </a:rPr>
              <a:t>0.375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818120" y="204825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BB0"/>
                </a:solidFill>
              </a:rPr>
              <a:t>0.625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400800" y="2487168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446520" y="2487168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B3A"/>
                </a:solidFill>
              </a:rPr>
              <a:t>t=0.7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995160" y="248716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B6E4F"/>
                </a:solidFill>
              </a:rPr>
              <a:t>0.283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818120" y="248716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BB0"/>
                </a:solidFill>
              </a:rPr>
              <a:t>0.705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400800" y="2926080"/>
            <a:ext cx="2377440" cy="402336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446520" y="2926080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B3A"/>
                </a:solidFill>
              </a:rPr>
              <a:t>t=0.8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995160" y="29260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B6E4F"/>
                </a:solidFill>
              </a:rPr>
              <a:t>0.229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7818120" y="29260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BB0"/>
                </a:solidFill>
              </a:rPr>
              <a:t>0.787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400800" y="3364992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446520" y="3364992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B3A"/>
                </a:solidFill>
              </a:rPr>
              <a:t>t=1.0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995160" y="336499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B6E4F"/>
                </a:solidFill>
              </a:rPr>
              <a:t>0.076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7818120" y="336499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BB0"/>
                </a:solidFill>
              </a:rPr>
              <a:t>0.899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400800" y="3803904"/>
            <a:ext cx="2377440" cy="402336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6446520" y="3803904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B3A"/>
                </a:solidFill>
              </a:rPr>
              <a:t>t=1.2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6995160" y="380390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B6E4F"/>
                </a:solidFill>
              </a:rPr>
              <a:t>0.028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818120" y="380390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BB0"/>
                </a:solidFill>
              </a:rPr>
              <a:t>0.970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6995160" y="422452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8A9BB0"/>
                </a:solidFill>
              </a:rPr>
              <a:t>CIDEr / Distinct-2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6400800" y="4462272"/>
            <a:ext cx="2377440" cy="38404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6400800" y="44622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Use t=0.3 for accuracy, t=0.5 for diversity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12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06 FINDINGS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4160520" cy="1828800"/>
          </a:xfrm>
          <a:prstGeom prst="rect">
            <a:avLst/>
          </a:prstGeom>
          <a:solidFill>
            <a:srgbClr val="0F2537"/>
          </a:solidFill>
          <a:ln w="1905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1005840"/>
            <a:ext cx="502920" cy="182880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100584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01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383280" y="1115568"/>
            <a:ext cx="1024128" cy="310896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383280" y="111556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CIDEr 0.9364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60120" y="10972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Prefix conditioning works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without LM fine-tuning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1664208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CE5EF"/>
                </a:solidFill>
              </a:rPr>
              <a:t>Frozen/Beam matches FT-4L/Beam exactly. ProjectionHead alone provides sufficient visual conditioning on 118K images.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00600" y="1005840"/>
            <a:ext cx="4160520" cy="1828800"/>
          </a:xfrm>
          <a:prstGeom prst="rect">
            <a:avLst/>
          </a:prstGeom>
          <a:solidFill>
            <a:srgbClr val="0F2537"/>
          </a:solidFill>
          <a:ln w="19050">
            <a:solidFill>
              <a:srgbClr val="F7B73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800600" y="1005840"/>
            <a:ext cx="502920" cy="1828800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00600" y="100584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02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818120" y="1115568"/>
            <a:ext cx="1024128" cy="310896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818120" y="111556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+12% vs Greedy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394960" y="10972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Beam search wins on all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accuracy metrics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394960" y="1664208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CE5EF"/>
                </a:solidFill>
              </a:rPr>
              <a:t>Beam search outperforms greedy and nucleus across all 3 models. Gap is largest for LoRA (+12.4% CIDEr).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3017520"/>
            <a:ext cx="4160520" cy="1828800"/>
          </a:xfrm>
          <a:prstGeom prst="rect">
            <a:avLst/>
          </a:prstGeom>
          <a:solidFill>
            <a:srgbClr val="0F2537"/>
          </a:solidFill>
          <a:ln w="1905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65760" y="3017520"/>
            <a:ext cx="502920" cy="182880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65760" y="301752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03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3383280" y="3127248"/>
            <a:ext cx="1024128" cy="310896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383280" y="312724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w=5 on COCO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60120" y="31089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Optimal beam width is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dataset-dependent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60120" y="3675888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CE5EF"/>
                </a:solidFill>
              </a:rPr>
              <a:t>w=5 peaks on COCO vs. w=8 on Flickr30k. Tune on a held-out validation set, not fixed heuristics.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800600" y="3017520"/>
            <a:ext cx="4160520" cy="1828800"/>
          </a:xfrm>
          <a:prstGeom prst="rect">
            <a:avLst/>
          </a:prstGeom>
          <a:solidFill>
            <a:srgbClr val="0F2537"/>
          </a:solidFill>
          <a:ln w="19050">
            <a:solidFill>
              <a:srgbClr val="1A93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800600" y="3017520"/>
            <a:ext cx="502920" cy="1828800"/>
          </a:xfrm>
          <a:prstGeom prst="rect">
            <a:avLst/>
          </a:prstGeom>
          <a:solidFill>
            <a:srgbClr val="1A936F"/>
          </a:solidFill>
          <a:ln w="12700">
            <a:solidFill>
              <a:srgbClr val="1A93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800600" y="301752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04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7818120" y="3127248"/>
            <a:ext cx="1024128" cy="310896"/>
          </a:xfrm>
          <a:prstGeom prst="rect">
            <a:avLst/>
          </a:prstGeom>
          <a:solidFill>
            <a:srgbClr val="1A936F"/>
          </a:solidFill>
          <a:ln w="12700">
            <a:solidFill>
              <a:srgbClr val="1A93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818120" y="312724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CIDEr: 0.46→0.03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394960" y="31089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Temperature degrades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accuracy monotonically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394960" y="3675888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CE5EF"/>
                </a:solidFill>
              </a:rPr>
              <a:t>CIDEr drops from 0.46 at t=0.3 to 0.03 at t=1.2. Diversity rises proportionally. Use t=0.3 for factual captioning.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13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07 ETHICS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Considerations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80160"/>
            <a:ext cx="4160520" cy="1664208"/>
          </a:xfrm>
          <a:prstGeom prst="rect">
            <a:avLst/>
          </a:prstGeom>
          <a:solidFill>
            <a:srgbClr val="FFFFFF"/>
          </a:solidFill>
          <a:ln w="254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4160520" cy="45720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75488" y="12801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Dataset Bias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" y="181051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2B3A"/>
                </a:solidFill>
              </a:rPr>
              <a:t>COCO was annotated by Mechanical Turk workers with Western, English-speaking demographics. Gender stereotypes and urban-centric scenes are overrepresented. Models may underperform on diverse cultural contexts.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800600" y="1280160"/>
            <a:ext cx="4160520" cy="1664208"/>
          </a:xfrm>
          <a:prstGeom prst="rect">
            <a:avLst/>
          </a:prstGeom>
          <a:solidFill>
            <a:srgbClr val="FFFFFF"/>
          </a:solidFill>
          <a:ln w="254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800600" y="1280160"/>
            <a:ext cx="41605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10328" y="12801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Misrepresentation Risk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0328" y="181051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2B3A"/>
                </a:solidFill>
              </a:rPr>
              <a:t>Models generate confident captions even for out-of-distribution images. In accessibility tools (screen reader alt-text), incorrect captions actively mislead visually impaired users. Human review required for high-stakes deployment.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65760" y="3108960"/>
            <a:ext cx="4160520" cy="1664208"/>
          </a:xfrm>
          <a:prstGeom prst="rect">
            <a:avLst/>
          </a:prstGeom>
          <a:solidFill>
            <a:srgbClr val="FFFFFF"/>
          </a:solidFill>
          <a:ln w="254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65760" y="3108960"/>
            <a:ext cx="4160520" cy="45720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75488" y="3108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Accessibility Value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5488" y="363931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2B3A"/>
                </a:solidFill>
              </a:rPr>
              <a:t>CIDEr 0.93 on common COCO scenes approaches usable quality for assistive technology. 253 million visually impaired people could benefit from automatic alt-text generation when deployed responsibly.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800600" y="3108960"/>
            <a:ext cx="4160520" cy="1664208"/>
          </a:xfrm>
          <a:prstGeom prst="rect">
            <a:avLst/>
          </a:prstGeom>
          <a:solidFill>
            <a:srgbClr val="FFFFFF"/>
          </a:solidFill>
          <a:ln w="25400">
            <a:solidFill>
              <a:srgbClr val="1A93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800600" y="3108960"/>
            <a:ext cx="4160520" cy="457200"/>
          </a:xfrm>
          <a:prstGeom prst="rect">
            <a:avLst/>
          </a:prstGeom>
          <a:solidFill>
            <a:srgbClr val="1A936F"/>
          </a:solidFill>
          <a:ln w="12700">
            <a:solidFill>
              <a:srgbClr val="1A93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910328" y="3108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Privacy &amp; Surveillance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910328" y="363931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2B3A"/>
                </a:solidFill>
              </a:rPr>
              <a:t>Automatic scene description at scale could enable mass surveillance by generating textual logs from camera feeds. Clear governance frameworks and use-case restrictions are required before production deployment.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14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DEMO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VisCaption — Interactive Web Dashboard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98448"/>
            <a:ext cx="5029200" cy="786384"/>
          </a:xfrm>
          <a:prstGeom prst="rect">
            <a:avLst/>
          </a:prstGeom>
          <a:solidFill>
            <a:srgbClr val="FFFFFF"/>
          </a:solidFill>
          <a:ln w="1905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1298448"/>
            <a:ext cx="54864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13533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Live Inference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64592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B3A"/>
                </a:solidFill>
              </a:rPr>
              <a:t>Upload any image, select model and strategy, generate captions in real time with preprocessing pipeline visualization.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2231136"/>
            <a:ext cx="5029200" cy="786384"/>
          </a:xfrm>
          <a:prstGeom prst="rect">
            <a:avLst/>
          </a:prstGeom>
          <a:solidFill>
            <a:srgbClr val="FFFFFF"/>
          </a:solidFill>
          <a:ln w="1905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65760" y="2231136"/>
            <a:ext cx="54864" cy="786384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0292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Dynamic Metrics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25786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B3A"/>
                </a:solidFill>
              </a:rPr>
              <a:t>No Ground-Truth panel: CLIPScore, Perplexity, Grammar Score computed instantly. GT References panel: BLEU/METEOR/CIDEr.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3163824"/>
            <a:ext cx="5029200" cy="786384"/>
          </a:xfrm>
          <a:prstGeom prst="rect">
            <a:avLst/>
          </a:prstGeom>
          <a:solidFill>
            <a:srgbClr val="FFFFFF"/>
          </a:solidFill>
          <a:ln w="1905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65760" y="3163824"/>
            <a:ext cx="54864" cy="786384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2920" y="32186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Sensitivity Analysis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" y="351129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B3A"/>
                </a:solidFill>
              </a:rPr>
              <a:t>Real-time 12-inference sweep on your image. Static COCO 500 charts for beam width and temperature.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5760" y="4096512"/>
            <a:ext cx="5029200" cy="786384"/>
          </a:xfrm>
          <a:prstGeom prst="rect">
            <a:avLst/>
          </a:prstGeom>
          <a:solidFill>
            <a:srgbClr val="FFFFFF"/>
          </a:solidFill>
          <a:ln w="19050">
            <a:solidFill>
              <a:srgbClr val="1A93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65760" y="4096512"/>
            <a:ext cx="54864" cy="786384"/>
          </a:xfrm>
          <a:prstGeom prst="rect">
            <a:avLst/>
          </a:prstGeom>
          <a:solidFill>
            <a:srgbClr val="1A936F"/>
          </a:solidFill>
          <a:ln w="12700">
            <a:solidFill>
              <a:srgbClr val="1A93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02920" y="41513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Analysis Page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2920" y="444398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B3A"/>
                </a:solidFill>
              </a:rPr>
              <a:t>Key findings and ethical considerations grounded in COCO 500 evaluation data.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577840" y="1298448"/>
            <a:ext cx="3200400" cy="29718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669280" y="1389888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B731"/>
                </a:solidFill>
              </a:rPr>
              <a:t>Launch Demo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0" y="1828800"/>
            <a:ext cx="3017520" cy="1371600"/>
          </a:xfrm>
          <a:prstGeom prst="rect">
            <a:avLst/>
          </a:prstGeom>
          <a:solidFill>
            <a:srgbClr val="081522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760720" y="1920240"/>
            <a:ext cx="2834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93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demo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93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run.sh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93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→ http://localhost:5000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669280" y="333756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CE5EF"/>
                </a:solidFill>
              </a:rPr>
              <a:t>Runs on Apple M1 (MPS)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DCE5EF"/>
                </a:solidFill>
              </a:rPr>
              <a:t>Models load in ~30 seconds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663440"/>
            <a:ext cx="8412480" cy="329184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65760" y="46634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BB0"/>
                </a:solidFill>
              </a:rPr>
              <a:t>Stack: PyTorch 2.1  |  Hugging Face Transformers  |  PEFT  |  CLIP ViT-B/32  |  GPT-2 117M  |  Flask  |  Chart.js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15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8412480" cy="36576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105156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DCE5EF"/>
                </a:solidFill>
              </a:rPr>
              <a:t>Best result: FT-4L / Beam achieves CIDEr 0.9364 on COCO val2017 (500 images). Frozen / Beam ties exactly with 67M fewer parameters, validating prefix conditioning as an effective approach.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920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7B731"/>
                </a:solidFill>
              </a:rPr>
              <a:t>Future Directions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331720"/>
            <a:ext cx="4572000" cy="42062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65760" y="2331720"/>
            <a:ext cx="54864" cy="42062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2920" y="2331720"/>
            <a:ext cx="4343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CE5EF"/>
                </a:solidFill>
              </a:rPr>
              <a:t>Cross-attention conditioning to overcome the 10-token prefix bottleneck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5760" y="2843784"/>
            <a:ext cx="4572000" cy="42062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65760" y="2843784"/>
            <a:ext cx="54864" cy="42062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2920" y="2843784"/>
            <a:ext cx="4343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CE5EF"/>
                </a:solidFill>
              </a:rPr>
              <a:t>Larger CLIP encoder (ViT-L/14, 768-d) for richer visual representation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65760" y="3355848"/>
            <a:ext cx="4572000" cy="42062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65760" y="3355848"/>
            <a:ext cx="54864" cy="42062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2920" y="3355848"/>
            <a:ext cx="4343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CE5EF"/>
                </a:solidFill>
              </a:rPr>
              <a:t>Contrastive loss to directly optimize CLIPScore alongside cross-entropy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" y="3867912"/>
            <a:ext cx="4572000" cy="42062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65760" y="3867912"/>
            <a:ext cx="54864" cy="42062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02920" y="3867912"/>
            <a:ext cx="4343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CE5EF"/>
                </a:solidFill>
              </a:rPr>
              <a:t>BLIP-2 / GIT comparison to quantify the architecture performance gap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0" y="1051560"/>
            <a:ext cx="3108960" cy="87782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669280" y="108813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7B731"/>
                </a:solidFill>
              </a:rPr>
              <a:t>0.9364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5669280" y="157276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BB0"/>
                </a:solidFill>
              </a:rPr>
              <a:t>CIDEr (Best)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9280" y="2057400"/>
            <a:ext cx="3108960" cy="87782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669280" y="209397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7B731"/>
                </a:solidFill>
              </a:rPr>
              <a:t>0.2917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5669280" y="257860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BB0"/>
                </a:solidFill>
              </a:rPr>
              <a:t>BLEU-4 (Best)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669280" y="3063240"/>
            <a:ext cx="3108960" cy="87782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669280" y="309981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7B731"/>
                </a:solidFill>
              </a:rPr>
              <a:t>w = 5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5669280" y="35844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BB0"/>
                </a:solidFill>
              </a:rPr>
              <a:t>Optimal Beam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69280" y="4069080"/>
            <a:ext cx="3108960" cy="87782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669280" y="410565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7B731"/>
                </a:solidFill>
              </a:rPr>
              <a:t>t = 0.3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5669280" y="45902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BB0"/>
                </a:solidFill>
              </a:rPr>
              <a:t>Optimal Temp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65760" y="4663440"/>
            <a:ext cx="8412480" cy="347472"/>
          </a:xfrm>
          <a:prstGeom prst="rect">
            <a:avLst/>
          </a:prstGeom>
          <a:solidFill>
            <a:srgbClr val="081522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65760" y="466344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BB0"/>
                </a:solidFill>
              </a:rPr>
              <a:t>IE 7615 Deep Learning for AI  |  Group 8  |  Northeastern University  |  Spring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1163</Words>
  <Application>Microsoft Macintosh PowerPoint</Application>
  <PresentationFormat>On-screen Show (16:9)</PresentationFormat>
  <Paragraphs>287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VisCaption: Image-to-Text Generation</dc:title>
  <dc:subject>PptxGenJS Presentation</dc:subject>
  <dc:creator>Group 8 — IE 7615</dc:creator>
  <cp:lastModifiedBy>Hung Le</cp:lastModifiedBy>
  <cp:revision>6</cp:revision>
  <dcterms:created xsi:type="dcterms:W3CDTF">2026-04-04T22:41:00Z</dcterms:created>
  <dcterms:modified xsi:type="dcterms:W3CDTF">2026-04-04T23:02:28Z</dcterms:modified>
</cp:coreProperties>
</file>