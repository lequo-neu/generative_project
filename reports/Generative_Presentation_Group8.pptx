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887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200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0464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3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035040" y="0"/>
            <a:ext cx="3108960" cy="5143500"/>
          </a:xfrm>
          <a:prstGeom prst="rect">
            <a:avLst/>
          </a:prstGeom>
          <a:solidFill>
            <a:srgbClr val="081522"/>
          </a:solidFill>
          <a:ln w="12700">
            <a:solidFill>
              <a:srgbClr val="0815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365760" y="1783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FFF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Image-to-Text Generation</a:t>
            </a:r>
            <a:endParaRPr lang="en-US" sz="2200" dirty="0">
              <a:solidFill>
                <a:srgbClr val="FFFF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65760" y="22860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CLIP Vision Encoders and GPT-2 Language Decoders</a:t>
            </a:r>
            <a:endParaRPr lang="en-US" sz="1600" dirty="0">
              <a:solidFill>
                <a:schemeClr val="bg2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365760" y="2234808"/>
            <a:ext cx="320040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3127248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 7615 Deep Learning for AI</a:t>
            </a:r>
          </a:p>
          <a:p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Prof. </a:t>
            </a:r>
            <a:r>
              <a:rPr lang="en-US" sz="1400" dirty="0" err="1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Xuemin</a:t>
            </a: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Jin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8: Quoc Hung Le, Khoa Tran, Hassan </a:t>
            </a:r>
            <a:r>
              <a:rPr lang="en-US" sz="1400" dirty="0" err="1">
                <a:solidFill>
                  <a:srgbClr val="DCE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Alfaree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7220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2"/>
                </a:solidFill>
              </a:rPr>
              <a:t>COCO 2017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172200" y="100584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172200" y="10241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0000"/>
                </a:solidFill>
              </a:rPr>
              <a:t>118 K</a:t>
            </a:r>
            <a:endParaRPr lang="en-US" sz="2600" dirty="0">
              <a:solidFill>
                <a:srgbClr val="FF0000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172200" y="14356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Training Images</a:t>
            </a:r>
          </a:p>
        </p:txBody>
      </p:sp>
      <p:sp>
        <p:nvSpPr>
          <p:cNvPr id="13" name="Shape 11"/>
          <p:cNvSpPr/>
          <p:nvPr/>
        </p:nvSpPr>
        <p:spPr>
          <a:xfrm>
            <a:off x="6172200" y="196596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72200" y="198424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6"/>
                </a:solidFill>
              </a:rPr>
              <a:t>500</a:t>
            </a:r>
            <a:endParaRPr lang="en-US" sz="2600" dirty="0">
              <a:solidFill>
                <a:schemeClr val="accent6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6172200" y="2395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Val Images Evaluated</a:t>
            </a:r>
          </a:p>
        </p:txBody>
      </p:sp>
      <p:sp>
        <p:nvSpPr>
          <p:cNvPr id="16" name="Shape 14"/>
          <p:cNvSpPr/>
          <p:nvPr/>
        </p:nvSpPr>
        <p:spPr>
          <a:xfrm>
            <a:off x="6172200" y="292608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72200" y="29443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</a:t>
            </a:r>
            <a:endParaRPr lang="en-US" sz="2600" dirty="0">
              <a:solidFill>
                <a:schemeClr val="accent2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172200" y="3355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Fine-tuning Strategies</a:t>
            </a:r>
          </a:p>
        </p:txBody>
      </p:sp>
      <p:sp>
        <p:nvSpPr>
          <p:cNvPr id="19" name="Shape 17"/>
          <p:cNvSpPr/>
          <p:nvPr/>
        </p:nvSpPr>
        <p:spPr>
          <a:xfrm>
            <a:off x="6172200" y="3886200"/>
            <a:ext cx="2743200" cy="777240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72200" y="3904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00"/>
                </a:solidFill>
              </a:rPr>
              <a:t>0.9364</a:t>
            </a:r>
            <a:endParaRPr lang="en-US" sz="2600" dirty="0">
              <a:solidFill>
                <a:srgbClr val="FFFF00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6172200" y="4315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Best CIDEr 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2412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Problem &amp; Motivation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2412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Why image captioning matters</a:t>
            </a:r>
          </a:p>
        </p:txBody>
      </p:sp>
      <p:sp>
        <p:nvSpPr>
          <p:cNvPr id="9" name="Shape 7"/>
          <p:cNvSpPr/>
          <p:nvPr/>
        </p:nvSpPr>
        <p:spPr>
          <a:xfrm>
            <a:off x="45720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CLIP + ProjectionHead + GPT-2</a:t>
            </a:r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412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Fine-Tuning Strategies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Frozen vs FT-4L vs LoRA</a:t>
            </a:r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895344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39502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Results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4297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COCO 500-image benchmark</a:t>
            </a:r>
          </a:p>
        </p:txBody>
      </p:sp>
      <p:sp>
        <p:nvSpPr>
          <p:cNvPr id="24" name="Shape 22"/>
          <p:cNvSpPr/>
          <p:nvPr/>
        </p:nvSpPr>
        <p:spPr>
          <a:xfrm>
            <a:off x="4846320" y="1097280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1097280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13248" y="11521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Sensitivity Analysis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13248" y="14996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Beam width and temperature</a:t>
            </a:r>
          </a:p>
        </p:txBody>
      </p:sp>
      <p:sp>
        <p:nvSpPr>
          <p:cNvPr id="29" name="Shape 27"/>
          <p:cNvSpPr/>
          <p:nvPr/>
        </p:nvSpPr>
        <p:spPr>
          <a:xfrm>
            <a:off x="4846320" y="2029968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2029968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20848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Key Findings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13248" y="24323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What the numbers tell us</a:t>
            </a:r>
          </a:p>
        </p:txBody>
      </p:sp>
      <p:sp>
        <p:nvSpPr>
          <p:cNvPr id="34" name="Shape 32"/>
          <p:cNvSpPr/>
          <p:nvPr/>
        </p:nvSpPr>
        <p:spPr>
          <a:xfrm>
            <a:off x="4846320" y="2962656"/>
            <a:ext cx="4206240" cy="78638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46320" y="2962656"/>
            <a:ext cx="502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413248" y="301752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Considerations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13248" y="336499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/>
                </a:solidFill>
              </a:rPr>
              <a:t>Bias, risk, and responsibility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 MOTIVATION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Image Captioning?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2651760" cy="15544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253M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visually impaired people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globally need alt-text</a:t>
            </a:r>
          </a:p>
        </p:txBody>
      </p:sp>
      <p:sp>
        <p:nvSpPr>
          <p:cNvPr id="9" name="Shape 7"/>
          <p:cNvSpPr/>
          <p:nvPr/>
        </p:nvSpPr>
        <p:spPr>
          <a:xfrm>
            <a:off x="3291840" y="1417320"/>
            <a:ext cx="2651760" cy="1554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9184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2X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9184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faster content indexing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with auto-generated metadata</a:t>
            </a:r>
          </a:p>
        </p:txBody>
      </p:sp>
      <p:sp>
        <p:nvSpPr>
          <p:cNvPr id="12" name="Shape 10"/>
          <p:cNvSpPr/>
          <p:nvPr/>
        </p:nvSpPr>
        <p:spPr>
          <a:xfrm>
            <a:off x="6217920" y="1417320"/>
            <a:ext cx="2651760" cy="155448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</a:rPr>
              <a:t>90%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217920" y="22402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of web images lack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accessible descriptions</a:t>
            </a:r>
          </a:p>
        </p:txBody>
      </p:sp>
      <p:sp>
        <p:nvSpPr>
          <p:cNvPr id="15" name="Shape 13"/>
          <p:cNvSpPr/>
          <p:nvPr/>
        </p:nvSpPr>
        <p:spPr>
          <a:xfrm>
            <a:off x="365760" y="3154680"/>
            <a:ext cx="8412480" cy="164592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154680"/>
            <a:ext cx="64008" cy="164592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The Task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35661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C2B3A"/>
                </a:solidFill>
              </a:rPr>
              <a:t>Given an arbitrary image, generate a fluent, accurate natural-language description of its content - without any human annotation at inference time.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 ARCHITECTURE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1508760" cy="14356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Image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Input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Any resolution</a:t>
            </a:r>
          </a:p>
        </p:txBody>
      </p:sp>
      <p:sp>
        <p:nvSpPr>
          <p:cNvPr id="9" name="Shape 7"/>
          <p:cNvSpPr/>
          <p:nvPr/>
        </p:nvSpPr>
        <p:spPr>
          <a:xfrm>
            <a:off x="1783080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993392" y="1261872"/>
            <a:ext cx="1508760" cy="1435608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993392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CLIP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ViT-B/32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93392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Frozen encoder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512-d embedding</a:t>
            </a:r>
          </a:p>
        </p:txBody>
      </p:sp>
      <p:sp>
        <p:nvSpPr>
          <p:cNvPr id="13" name="Shape 11"/>
          <p:cNvSpPr/>
          <p:nvPr/>
        </p:nvSpPr>
        <p:spPr>
          <a:xfrm>
            <a:off x="3502152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12464" y="1261872"/>
            <a:ext cx="1508760" cy="1435608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12464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Head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712464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2-layer MLP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10 prefix tokens</a:t>
            </a:r>
          </a:p>
        </p:txBody>
      </p:sp>
      <p:sp>
        <p:nvSpPr>
          <p:cNvPr id="17" name="Shape 15"/>
          <p:cNvSpPr/>
          <p:nvPr/>
        </p:nvSpPr>
        <p:spPr>
          <a:xfrm>
            <a:off x="5221224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31536" y="1261872"/>
            <a:ext cx="1508760" cy="14356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31536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GPT-2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Decoder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31536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117M params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Autoregressive</a:t>
            </a:r>
          </a:p>
        </p:txBody>
      </p:sp>
      <p:sp>
        <p:nvSpPr>
          <p:cNvPr id="21" name="Shape 19"/>
          <p:cNvSpPr/>
          <p:nvPr/>
        </p:nvSpPr>
        <p:spPr>
          <a:xfrm>
            <a:off x="6940296" y="2011680"/>
            <a:ext cx="210312" cy="73152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150608" y="1261872"/>
            <a:ext cx="1508760" cy="143560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50608" y="1481328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Caption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50608" y="21031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Natural language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description</a:t>
            </a:r>
          </a:p>
        </p:txBody>
      </p:sp>
      <p:sp>
        <p:nvSpPr>
          <p:cNvPr id="25" name="Text 23"/>
          <p:cNvSpPr/>
          <p:nvPr/>
        </p:nvSpPr>
        <p:spPr>
          <a:xfrm>
            <a:off x="2267712" y="10571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512-d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21179" y="10424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10x768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728716" y="10424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50 tokens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017520"/>
            <a:ext cx="8412480" cy="1828800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60" y="3017520"/>
            <a:ext cx="64008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0" name="Text 28"/>
          <p:cNvSpPr/>
          <p:nvPr/>
        </p:nvSpPr>
        <p:spPr>
          <a:xfrm>
            <a:off x="548640" y="30224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ProjectionHead Detail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2" name="Text 30"/>
          <p:cNvSpPr/>
          <p:nvPr/>
        </p:nvSpPr>
        <p:spPr>
          <a:xfrm>
            <a:off x="54864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Linear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(512→7680)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792224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4" name="Shape 32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5" name="Text 33"/>
          <p:cNvSpPr/>
          <p:nvPr/>
        </p:nvSpPr>
        <p:spPr>
          <a:xfrm>
            <a:off x="1938528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GELU Activation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182112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7" name="Shape 35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3328416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Dropout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(p=0.1)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572000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0" name="Shape 38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1" name="Text 39"/>
          <p:cNvSpPr/>
          <p:nvPr/>
        </p:nvSpPr>
        <p:spPr>
          <a:xfrm>
            <a:off x="4718304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Linear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(7680→7680)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961888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3" name="Shape 41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4" name="Text 42"/>
          <p:cNvSpPr/>
          <p:nvPr/>
        </p:nvSpPr>
        <p:spPr>
          <a:xfrm>
            <a:off x="6108192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LayerNorm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351776" y="3621024"/>
            <a:ext cx="146304" cy="36576"/>
          </a:xfrm>
          <a:prstGeom prst="rect">
            <a:avLst/>
          </a:prstGeom>
          <a:solidFill>
            <a:srgbClr val="8A9BB0"/>
          </a:solidFill>
          <a:ln w="12700">
            <a:solidFill>
              <a:srgbClr val="8A9BB0"/>
            </a:solidFill>
            <a:prstDash val="solid"/>
          </a:ln>
        </p:spPr>
        <p:txBody>
          <a:bodyPr/>
          <a:lstStyle/>
          <a:p>
            <a:endParaRPr lang="en-US" sz="1400"/>
          </a:p>
        </p:txBody>
      </p:sp>
      <p:sp>
        <p:nvSpPr>
          <p:cNvPr id="46" name="Shape 44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498080" y="3438144"/>
            <a:ext cx="1243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Reshape→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(10, 768)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548640" y="3931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2B3A"/>
                </a:solidFill>
              </a:rPr>
              <a:t>Image prefix conditioning: visual context is injected as 10 learnable prefix tokens prepended to GPT-2's input.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 FINE-TUNING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Training Strategies Compared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Frozen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0.6 M trainable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187.4 M total</a:t>
            </a:r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Only ProjectionHead is trained.</a:t>
            </a:r>
            <a:endParaRPr lang="en-US" sz="1200" dirty="0"/>
          </a:p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GPT-2 weights stay completely fixed.</a:t>
            </a:r>
            <a:endParaRPr lang="en-US" sz="1200" dirty="0"/>
          </a:p>
          <a:p>
            <a:pPr marL="0" indent="0" algn="just">
              <a:buNone/>
            </a:pPr>
            <a:r>
              <a:rPr lang="en-US" sz="1200" dirty="0">
                <a:solidFill>
                  <a:srgbClr val="1C2B3A"/>
                </a:solidFill>
              </a:rPr>
              <a:t>Fastest to train, smallest memory footprint.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Baseline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9184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FT-4L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38328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6E4F"/>
                </a:solidFill>
              </a:rPr>
              <a:t>67.6 M trainable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129.9 M total</a:t>
            </a:r>
          </a:p>
        </p:txBody>
      </p:sp>
      <p:sp>
        <p:nvSpPr>
          <p:cNvPr id="20" name="Shape 18"/>
          <p:cNvSpPr/>
          <p:nvPr/>
        </p:nvSpPr>
        <p:spPr>
          <a:xfrm>
            <a:off x="347472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0156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ProjectionHead + last 4 GPT-2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transformer blocks fine-tuned.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Highest raw capacity.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Best Accuracy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1371600"/>
            <a:ext cx="2651760" cy="34747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17920" y="13716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LoRA  r=8,a=16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309360" y="20574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5D04"/>
                </a:solidFill>
              </a:rPr>
              <a:t>0.8 M trainable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63.7 M total</a:t>
            </a:r>
          </a:p>
        </p:txBody>
      </p:sp>
      <p:sp>
        <p:nvSpPr>
          <p:cNvPr id="29" name="Shape 27"/>
          <p:cNvSpPr/>
          <p:nvPr/>
        </p:nvSpPr>
        <p:spPr>
          <a:xfrm>
            <a:off x="6400800" y="2651760"/>
            <a:ext cx="2286000" cy="2743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327648" y="2743200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Low-rank adapters injected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into GPT-2 attention layers via PEFT.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C2B3A"/>
                </a:solidFill>
              </a:rPr>
              <a:t>alpha=16, scaling factor = 2.0.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83680" y="4114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Most Efficient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 TRAINING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COCO 2017 (106K train, ~6K </a:t>
            </a:r>
            <a:r>
              <a:rPr lang="en-US" sz="2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</a:t>
            </a: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~6K test)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943600" y="128016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943600" y="1280160"/>
            <a:ext cx="64008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080760" y="13441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1: Frozen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080760" y="16184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20 epochs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080760" y="1920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Early stopped, patience=3</a:t>
            </a:r>
          </a:p>
        </p:txBody>
      </p:sp>
      <p:sp>
        <p:nvSpPr>
          <p:cNvPr id="12" name="Shape 9"/>
          <p:cNvSpPr/>
          <p:nvPr/>
        </p:nvSpPr>
        <p:spPr>
          <a:xfrm>
            <a:off x="5943600" y="251460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943600" y="2514600"/>
            <a:ext cx="64008" cy="100584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080760" y="25786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2: FT-4L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080760" y="28529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6E4F"/>
                </a:solidFill>
              </a:rPr>
              <a:t>15 epochs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080760" y="31546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Converges faster with LR=5e-5</a:t>
            </a:r>
          </a:p>
        </p:txBody>
      </p:sp>
      <p:sp>
        <p:nvSpPr>
          <p:cNvPr id="17" name="Shape 14"/>
          <p:cNvSpPr/>
          <p:nvPr/>
        </p:nvSpPr>
        <p:spPr>
          <a:xfrm>
            <a:off x="5943600" y="3749040"/>
            <a:ext cx="283464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943600" y="3749040"/>
            <a:ext cx="64008" cy="100584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80760" y="3813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</a:rPr>
              <a:t>Phase 3: </a:t>
            </a:r>
            <a:r>
              <a:rPr lang="en-US" sz="1400" b="1" dirty="0" err="1">
                <a:solidFill>
                  <a:srgbClr val="0D1B2A"/>
                </a:solidFill>
              </a:rPr>
              <a:t>LoRA</a:t>
            </a:r>
            <a:r>
              <a:rPr lang="en-US" sz="1400" b="1" dirty="0">
                <a:solidFill>
                  <a:srgbClr val="0D1B2A"/>
                </a:solidFill>
              </a:rPr>
              <a:t> (r=8, scale =2)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080760" y="4087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D04"/>
                </a:solidFill>
              </a:rPr>
              <a:t>15 epochs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080760" y="43891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/>
              <a:t>Should change params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BC97F7C-E393-56B6-ABF8-96588A439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07008"/>
            <a:ext cx="5303520" cy="30063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val2017: 500 Images - All Configurations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280160"/>
            <a:ext cx="5303520" cy="34747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0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Best per Model (Beam Search)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852160" y="1691640"/>
            <a:ext cx="2926080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0" y="169164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Model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CIDEr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863840" y="169164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BLEU-4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52160" y="2185416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852160" y="2185416"/>
            <a:ext cx="64008" cy="43891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943600" y="218541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Frozen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494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863840" y="218541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0.2896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2679192"/>
            <a:ext cx="2926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52160" y="2679192"/>
            <a:ext cx="64008" cy="43891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43600" y="267919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FT-4L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494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0.9364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863840" y="267919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0.2917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852160" y="3172968"/>
            <a:ext cx="2926080" cy="438912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52160" y="3172968"/>
            <a:ext cx="64008" cy="438912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5943600" y="31729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LoRA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494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6E4F"/>
                </a:solidFill>
              </a:rPr>
              <a:t>0.5556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863840" y="31729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0.1835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852160" y="3749040"/>
            <a:ext cx="2926080" cy="109728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594360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B731"/>
                </a:solidFill>
              </a:rPr>
              <a:t>Key Insight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943600" y="4041648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Frozen/Beam = FT-4L/Beam on CIDEr despite 67M fewer parameters</a:t>
            </a:r>
            <a:endParaRPr lang="en-US" sz="1200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C8F1C33C-178A-E053-B55B-66CF6A65D942}"/>
              </a:ext>
            </a:extLst>
          </p:cNvPr>
          <p:cNvSpPr/>
          <p:nvPr/>
        </p:nvSpPr>
        <p:spPr>
          <a:xfrm>
            <a:off x="365760" y="4825218"/>
            <a:ext cx="5212080" cy="239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0000"/>
                </a:solidFill>
              </a:rPr>
              <a:t>Change </a:t>
            </a:r>
            <a:r>
              <a:rPr lang="en-US" sz="1600" b="1" dirty="0" err="1">
                <a:solidFill>
                  <a:srgbClr val="FF0000"/>
                </a:solidFill>
              </a:rPr>
              <a:t>LoRA</a:t>
            </a:r>
            <a:r>
              <a:rPr lang="en-US" sz="1600" b="1" dirty="0">
                <a:solidFill>
                  <a:srgbClr val="FF0000"/>
                </a:solidFill>
              </a:rPr>
              <a:t> r=32, scale =2; Evaluate on 5000 images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Evaluation Heatmap: 9 Configurations x 5 Metrics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470580" y="1239570"/>
            <a:ext cx="6759019" cy="33795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659344"/>
            <a:ext cx="8412480" cy="369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/>
              <a:t>Warmer colors = higher score within each metric column. </a:t>
            </a:r>
          </a:p>
          <a:p>
            <a:pPr marL="0" indent="0" algn="ctr">
              <a:buNone/>
            </a:pPr>
            <a:r>
              <a:rPr lang="en-US" sz="1200" i="1" dirty="0"/>
              <a:t>Best row: FT-4L / Beam (highlighted).  Evaluation on COCO val2017, 500 images.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 RESULTS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Multi-Metric Radar: Best Strategy per Model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370920"/>
            <a:ext cx="5943600" cy="2286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92240" y="137160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6492240" y="1371600"/>
            <a:ext cx="54864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620256" y="1426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Frozen / Beam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20256" y="170078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Competitive on all metrics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with zero LM fine-tuning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92240" y="256032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92240" y="2560320"/>
            <a:ext cx="54864" cy="96012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620256" y="26151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FT-4L / Beam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620256" y="28895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Best METEOR (0.474)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Marginally better than Frozen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92240" y="3749040"/>
            <a:ext cx="2286000" cy="960120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92240" y="3749040"/>
            <a:ext cx="54864" cy="9601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620256" y="3803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LoRA / Beam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620256" y="40782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Lower scores on COCO scale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C2B3A"/>
                </a:solidFill>
              </a:rPr>
              <a:t>Parametric efficiency trade-off -&gt; upgrade by r=32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B0"/>
                </a:solidFill>
              </a:rPr>
              <a:t>10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 SENSITIVITY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Width Sweep: CIDEr and BLEU-4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760" y="1627632"/>
            <a:ext cx="5852160" cy="27157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Beam Sweep Results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0" y="162763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6446520" y="162763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08660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0.5109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909560" y="16276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0.1553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06654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6446520" y="20665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08660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0.5638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909560" y="20665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0.1690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0" y="2505456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6446520" y="250545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08660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0.5861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909560" y="25054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0.1739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0" y="2944368"/>
            <a:ext cx="2377440" cy="402336"/>
          </a:xfrm>
          <a:prstGeom prst="rect">
            <a:avLst/>
          </a:prstGeom>
          <a:solidFill>
            <a:srgbClr val="0B6E4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6446520" y="29443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w=5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08660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B731"/>
                </a:solidFill>
              </a:rPr>
              <a:t>0.6099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909560" y="29443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</a:rPr>
              <a:t>0.1775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0" y="3383280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446520" y="338328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w=8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08660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0.5718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909560" y="33832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0.1654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00800" y="3822192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6446520" y="382219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w=10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08660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0.5684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909560" y="38221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C2B3A"/>
                </a:solidFill>
              </a:rPr>
              <a:t>0.1639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33" name="Text 30"/>
          <p:cNvSpPr/>
          <p:nvPr/>
        </p:nvSpPr>
        <p:spPr>
          <a:xfrm>
            <a:off x="6400800" y="4343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B731"/>
                </a:solidFill>
              </a:rPr>
              <a:t>Recommended: w = 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B0"/>
                </a:solidFill>
              </a:rPr>
              <a:t>11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 SENSITIVITY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Sweep: Accuracy vs. Diversity Trade-off</a:t>
            </a:r>
            <a:endParaRPr lang="en-US" sz="2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0" y="1630554"/>
            <a:ext cx="5852160" cy="29832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Accuracy - Diversity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0" y="1609344"/>
            <a:ext cx="2377440" cy="402336"/>
          </a:xfrm>
          <a:prstGeom prst="rect">
            <a:avLst/>
          </a:prstGeom>
          <a:solidFill>
            <a:srgbClr val="E85D04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9" name="Text 6"/>
          <p:cNvSpPr/>
          <p:nvPr/>
        </p:nvSpPr>
        <p:spPr>
          <a:xfrm>
            <a:off x="6446520" y="160934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t=0.3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99516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B731"/>
                </a:solidFill>
              </a:rPr>
              <a:t>0.464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18120" y="160934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CE5EF"/>
                </a:solidFill>
              </a:rPr>
              <a:t>0.552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0" y="2048256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6446520" y="204825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t=0.5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0.375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818120" y="204825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0.625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0" y="2487168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17" name="Text 14"/>
          <p:cNvSpPr/>
          <p:nvPr/>
        </p:nvSpPr>
        <p:spPr>
          <a:xfrm>
            <a:off x="6446520" y="248716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t=0.7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99516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0.283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818120" y="248716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0.705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00800" y="2926080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1" name="Text 18"/>
          <p:cNvSpPr/>
          <p:nvPr/>
        </p:nvSpPr>
        <p:spPr>
          <a:xfrm>
            <a:off x="6446520" y="292608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t=0.8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99516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0.229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818120" y="2926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0.787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0" y="336499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5" name="Text 22"/>
          <p:cNvSpPr/>
          <p:nvPr/>
        </p:nvSpPr>
        <p:spPr>
          <a:xfrm>
            <a:off x="6446520" y="336499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t=1.0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9516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0.076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818120" y="336499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0.899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00800" y="3803904"/>
            <a:ext cx="2377440" cy="402336"/>
          </a:xfrm>
          <a:prstGeom prst="rect">
            <a:avLst/>
          </a:prstGeom>
          <a:solidFill>
            <a:srgbClr val="DCE5EF"/>
          </a:solidFill>
          <a:ln w="12700">
            <a:solidFill>
              <a:srgbClr val="DCE5EF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6446520" y="380390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t=1.2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99516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B6E4F"/>
                </a:solidFill>
              </a:rPr>
              <a:t>0.028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7818120" y="380390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BB0"/>
                </a:solidFill>
              </a:rPr>
              <a:t>0.970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995160" y="422452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/>
              <a:t>CIDEr / Distinct-2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34" name="Text 31"/>
          <p:cNvSpPr/>
          <p:nvPr/>
        </p:nvSpPr>
        <p:spPr>
          <a:xfrm>
            <a:off x="6400800" y="44622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Use t=0.3 for accuracy, t=0.5 for diversity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BB0"/>
                </a:solidFill>
              </a:rPr>
              <a:t>12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 FINDINGS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502920" cy="18288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36576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338328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CIDEr 0.9364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Prefix conditioning works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without LM fine-tuning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Frozen/Beam matches FT-4L/Beam exactly. ProjectionHead alone provides sufficient visual conditioning on 118K images.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00600" y="100584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F7B73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14" name="Shape 12"/>
          <p:cNvSpPr/>
          <p:nvPr/>
        </p:nvSpPr>
        <p:spPr>
          <a:xfrm>
            <a:off x="4800600" y="1005840"/>
            <a:ext cx="502920" cy="18288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5" name="Text 13"/>
          <p:cNvSpPr/>
          <p:nvPr/>
        </p:nvSpPr>
        <p:spPr>
          <a:xfrm>
            <a:off x="4800600" y="1005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818120" y="1074624"/>
            <a:ext cx="1024128" cy="429768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7818120" y="111556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+12% vs Greedy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94960" y="1097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Beam search wins on all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accuracy metrics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94960" y="166420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Beam search outperforms greedy and nucleus across all 3 models. Gap is largest for LoRA (+12.4% CIDEr).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576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1" name="Shape 19"/>
          <p:cNvSpPr/>
          <p:nvPr/>
        </p:nvSpPr>
        <p:spPr>
          <a:xfrm>
            <a:off x="365760" y="3017520"/>
            <a:ext cx="502920" cy="18288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03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4" name="Text 22"/>
          <p:cNvSpPr/>
          <p:nvPr/>
        </p:nvSpPr>
        <p:spPr>
          <a:xfrm>
            <a:off x="338328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w=5 on COCO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6012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Optimal beam width is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dataset-dependent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012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w=5 peaks on COCO vs. w=8 on Flickr30k. Tune on a held-out validation set, not fixed heuristics.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800600" y="3017520"/>
            <a:ext cx="4160520" cy="1828800"/>
          </a:xfrm>
          <a:prstGeom prst="rect">
            <a:avLst/>
          </a:prstGeom>
          <a:solidFill>
            <a:srgbClr val="0F2537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sz="1600"/>
          </a:p>
        </p:txBody>
      </p:sp>
      <p:sp>
        <p:nvSpPr>
          <p:cNvPr id="28" name="Shape 26"/>
          <p:cNvSpPr/>
          <p:nvPr/>
        </p:nvSpPr>
        <p:spPr>
          <a:xfrm>
            <a:off x="4800600" y="3017520"/>
            <a:ext cx="502920" cy="18288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29" name="Text 27"/>
          <p:cNvSpPr/>
          <p:nvPr/>
        </p:nvSpPr>
        <p:spPr>
          <a:xfrm>
            <a:off x="480060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04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7818120" y="3072656"/>
            <a:ext cx="1024128" cy="438912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 sz="1600"/>
          </a:p>
        </p:txBody>
      </p:sp>
      <p:sp>
        <p:nvSpPr>
          <p:cNvPr id="31" name="Text 29"/>
          <p:cNvSpPr/>
          <p:nvPr/>
        </p:nvSpPr>
        <p:spPr>
          <a:xfrm>
            <a:off x="7818120" y="3127248"/>
            <a:ext cx="1024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CIDEr: 0.46→0.03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394960" y="3108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Temperature degrades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accuracy monotonically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394960" y="367588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CE5EF"/>
                </a:solidFill>
              </a:rPr>
              <a:t>CIDEr drops from 0.46 at t=0.3 to 0.03 at t=1.2. Diversity rises proportionally. Use t=0.3 for factual captioning.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 ETHICS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Considerations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4160520" cy="45720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Dataset Bias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548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COCO was annotated by workers with Western, English-speaking demographics:</a:t>
            </a:r>
            <a:br>
              <a:rPr lang="en-US" sz="1200" dirty="0">
                <a:solidFill>
                  <a:srgbClr val="1C2B3A"/>
                </a:solidFill>
              </a:rPr>
            </a:br>
            <a:r>
              <a:rPr lang="en-US" sz="1200" dirty="0">
                <a:solidFill>
                  <a:srgbClr val="1C2B3A"/>
                </a:solidFill>
              </a:rPr>
              <a:t>- Cultural bias</a:t>
            </a:r>
          </a:p>
          <a:p>
            <a:pPr algn="just"/>
            <a:r>
              <a:rPr lang="en-US" sz="1200" dirty="0"/>
              <a:t>- Linguistic bias</a:t>
            </a:r>
          </a:p>
          <a:p>
            <a:pPr algn="just"/>
            <a:r>
              <a:rPr lang="en-US" sz="1200" dirty="0">
                <a:sym typeface="Wingdings" pitchFamily="2" charset="2"/>
              </a:rPr>
              <a:t> Train on diverse multilingual datasets; evaluate across demographics</a:t>
            </a:r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00600" y="1280160"/>
            <a:ext cx="41605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10328" y="12801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Misrepresentation Risk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10328" y="18105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Models generate confident captions even for out-of-distribution images. In accessibility tools (screen reader alt-text), incorrect captions actively mislead visually impaired users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Deploy with human-in-loop for high-impact accessibility applications</a:t>
            </a:r>
          </a:p>
        </p:txBody>
      </p:sp>
      <p:sp>
        <p:nvSpPr>
          <p:cNvPr id="14" name="Shape 12"/>
          <p:cNvSpPr/>
          <p:nvPr/>
        </p:nvSpPr>
        <p:spPr>
          <a:xfrm>
            <a:off x="36576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08960"/>
            <a:ext cx="4160520" cy="457200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Accessibility Value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548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CIDEr 0.93 on common COCO scenes approaches usable quality for assistive technology. 253 million visually impaired people could benefit from automatic alt-text generation when deployed responsibly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</a:t>
            </a:r>
            <a:r>
              <a:rPr lang="en-US" sz="1200" dirty="0">
                <a:solidFill>
                  <a:srgbClr val="1C2B3A"/>
                </a:solidFill>
              </a:rPr>
              <a:t>Human review pipeline; confidence thresholds; grounding supervision</a:t>
            </a:r>
          </a:p>
        </p:txBody>
      </p:sp>
      <p:sp>
        <p:nvSpPr>
          <p:cNvPr id="18" name="Shape 16"/>
          <p:cNvSpPr/>
          <p:nvPr/>
        </p:nvSpPr>
        <p:spPr>
          <a:xfrm>
            <a:off x="4800600" y="3108960"/>
            <a:ext cx="4160520" cy="1664208"/>
          </a:xfrm>
          <a:prstGeom prst="rect">
            <a:avLst/>
          </a:prstGeom>
          <a:solidFill>
            <a:srgbClr val="FFFFFF"/>
          </a:solidFill>
          <a:ln w="2540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00600" y="3108960"/>
            <a:ext cx="4160520" cy="457200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10328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Privacy &amp; Surveillance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10328" y="363931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1C2B3A"/>
                </a:solidFill>
              </a:rPr>
              <a:t>Automatic scene description at scale could enable mass surveillance by generating textual logs from camera feeds </a:t>
            </a:r>
            <a:r>
              <a:rPr lang="en-US" sz="1200" dirty="0">
                <a:solidFill>
                  <a:srgbClr val="1C2B3A"/>
                </a:solidFill>
                <a:sym typeface="Wingdings" pitchFamily="2" charset="2"/>
              </a:rPr>
              <a:t> Consent frameworks; on-device processing; data minimization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01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DEMO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6692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VisCaption</a:t>
            </a:r>
            <a:r>
              <a:rPr lang="en-US" sz="2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Interactive Web Dashboard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298448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B6E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298448"/>
            <a:ext cx="54864" cy="78638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353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Live Inference (Both CLI and Web)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Upload any image, select model and strategy, generate captions in real time with preprocessing pipeline visualization.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2231136"/>
            <a:ext cx="54864" cy="7863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Dynamic Metrics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2578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No Ground-Truth panel: CLIPScore, Perplexity, Grammar Score computed instantly. GT References panel: BLEU/METEOR/CIDEr.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163824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0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65760" y="3163824"/>
            <a:ext cx="54864" cy="786384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32186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Sensitivity Analysis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35112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Real-time 12-inference sweep on your image. Static COCO 500 charts for beam width and temperature.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4096512"/>
            <a:ext cx="5029200" cy="786384"/>
          </a:xfrm>
          <a:prstGeom prst="rect">
            <a:avLst/>
          </a:prstGeom>
          <a:solidFill>
            <a:srgbClr val="FFFFFF"/>
          </a:solidFill>
          <a:ln w="19050">
            <a:solidFill>
              <a:srgbClr val="1A93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65760" y="4096512"/>
            <a:ext cx="54864" cy="786384"/>
          </a:xfrm>
          <a:prstGeom prst="rect">
            <a:avLst/>
          </a:prstGeom>
          <a:solidFill>
            <a:srgbClr val="1A936F"/>
          </a:solidFill>
          <a:ln w="12700">
            <a:solidFill>
              <a:srgbClr val="1A93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41513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B2A"/>
                </a:solidFill>
              </a:rPr>
              <a:t>Analysis</a:t>
            </a:r>
            <a:r>
              <a:rPr lang="en-US" sz="1200" b="1" dirty="0">
                <a:solidFill>
                  <a:srgbClr val="0D1B2A"/>
                </a:solidFill>
              </a:rPr>
              <a:t> </a:t>
            </a:r>
            <a:r>
              <a:rPr lang="en-US" sz="1600" b="1" dirty="0">
                <a:solidFill>
                  <a:srgbClr val="0D1B2A"/>
                </a:solidFill>
              </a:rPr>
              <a:t>Page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2920" y="444398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B3A"/>
                </a:solidFill>
              </a:rPr>
              <a:t>Key findings and ethical considerations grounded in COCO 500 evaluation data.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77840" y="1298448"/>
            <a:ext cx="3200400" cy="29718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0" y="13898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B731"/>
                </a:solidFill>
              </a:rPr>
              <a:t>LAUNCH DEMO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669280" y="1828800"/>
            <a:ext cx="3017520" cy="1371600"/>
          </a:xfrm>
          <a:prstGeom prst="rect">
            <a:avLst/>
          </a:prstGeom>
          <a:solidFill>
            <a:srgbClr val="081522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760720" y="1920240"/>
            <a:ext cx="2834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Web app: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run.sh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936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CLI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1A936F"/>
                </a:solidFill>
                <a:latin typeface="Courier New" pitchFamily="34" charset="0"/>
                <a:cs typeface="Courier New" pitchFamily="34" charset="-120"/>
              </a:rPr>
              <a:t>demo.ipynb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0" y="33375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CE5EF"/>
                </a:solidFill>
              </a:rPr>
              <a:t>Go ahead….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953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BB0"/>
                </a:solidFill>
              </a:rPr>
              <a:t>15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7B731"/>
          </a:solidFill>
          <a:ln w="12700">
            <a:solidFill>
              <a:srgbClr val="F7B73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36576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147096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DCE5EF"/>
                </a:solidFill>
              </a:rPr>
              <a:t>Best result: FT-4L / Beam achieves CIDEr 0.9364 on COCO val2017 (500 images). Frozen / Beam ties exactly with 67M fewer parameters, validating prefix conditioning as an effective approach.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384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B731"/>
                </a:solidFill>
              </a:rPr>
              <a:t>Future Directions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76500" y="2963133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476500" y="2963133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613660" y="2963133"/>
            <a:ext cx="487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CE5EF"/>
                </a:solidFill>
              </a:rPr>
              <a:t>Cross-attention conditioning to overcome the 10-token prefix bottleneck -&gt; map GPT-2, like BLIP-2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76500" y="3475197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76500" y="3475197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13660" y="3475197"/>
            <a:ext cx="4343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5EF"/>
                </a:solidFill>
              </a:rPr>
              <a:t>Larger CLIP encoder (ViT-L/14, 768-d) for richer visual representation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76500" y="3987261"/>
            <a:ext cx="5013960" cy="420624"/>
          </a:xfrm>
          <a:prstGeom prst="rect">
            <a:avLst/>
          </a:prstGeom>
          <a:solidFill>
            <a:srgbClr val="0F2537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476500" y="3987261"/>
            <a:ext cx="54864" cy="420624"/>
          </a:xfrm>
          <a:prstGeom prst="rect">
            <a:avLst/>
          </a:prstGeom>
          <a:solidFill>
            <a:srgbClr val="0B6E4F"/>
          </a:solidFill>
          <a:ln w="12700">
            <a:solidFill>
              <a:srgbClr val="0B6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13660" y="3987261"/>
            <a:ext cx="4876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DCE5EF"/>
                </a:solidFill>
              </a:rPr>
              <a:t>BLIP-2 (3.1B, Q-Former) / GIT (680M, Unified Transformer) comparison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1136</Words>
  <Application>Microsoft Macintosh PowerPoint</Application>
  <PresentationFormat>On-screen Show (16:9)</PresentationFormat>
  <Paragraphs>282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VisCaption: Image-to-Text Generation</dc:title>
  <dc:subject>PptxGenJS Presentation</dc:subject>
  <dc:creator>Group 8 — IE 7615</dc:creator>
  <cp:lastModifiedBy>Hung Le</cp:lastModifiedBy>
  <cp:revision>151</cp:revision>
  <dcterms:created xsi:type="dcterms:W3CDTF">2026-04-04T22:41:00Z</dcterms:created>
  <dcterms:modified xsi:type="dcterms:W3CDTF">2026-04-15T02:28:55Z</dcterms:modified>
</cp:coreProperties>
</file>