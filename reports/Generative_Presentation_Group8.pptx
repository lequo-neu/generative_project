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88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20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blindness-and-visual-impairment#:~:text=Globally%2C%20at%20least%202.2%20billion,are%20refractive%20errors%20and%20cataracts.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earetenet.com/blog/web-accessibility-statistics" TargetMode="External"/><Relationship Id="rId4" Type="http://schemas.openxmlformats.org/officeDocument/2006/relationships/hyperlink" Target="https://www.momentslab.com/blog/how-to-automate-metadata-generation-for-content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2234808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</a:p>
          <a:p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Xuemin</a:t>
            </a: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/>
                </a:solidFill>
              </a:rPr>
              <a:t>COCO 2017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00"/>
                </a:solidFill>
              </a:rPr>
              <a:t>118 K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Training Images</a:t>
            </a:r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6"/>
                </a:solidFill>
              </a:rPr>
              <a:t>500</a:t>
            </a:r>
            <a:endParaRPr lang="en-US" sz="26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Val Images Evaluated</a:t>
            </a:r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>
              <a:solidFill>
                <a:schemeClr val="accent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Fine-tuning Strategies</a:t>
            </a:r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00"/>
                </a:solidFill>
              </a:rPr>
              <a:t>0.9364</a:t>
            </a:r>
            <a:endParaRPr lang="en-US" sz="2600" dirty="0">
              <a:solidFill>
                <a:srgbClr val="FFFF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Best CIDEr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&amp; Motivation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Why image captioning matters</a:t>
            </a:r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CLIP + ProjectionHead + GPT-2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Fine-Tuning Strategies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Frozen vs FT-4L vs LoRA</a:t>
            </a:r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COCO 500-image benchmark</a:t>
            </a:r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Sensitivity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Beam width and temperature</a:t>
            </a:r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What the numbers tell us</a:t>
            </a:r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Considerations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Bias, risk, and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 MOTIVATION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2.2B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visually impaired people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globally need alt-text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10X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faster content indexing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with auto-generated metadata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MomentsLab</a:t>
            </a:r>
            <a:r>
              <a:rPr lang="en-US" sz="1400" dirty="0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55.5%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of web images lack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accessible descriptions</a:t>
            </a:r>
          </a:p>
          <a:p>
            <a:pPr algn="ctr"/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wearetenet</a:t>
            </a:r>
            <a:r>
              <a:rPr lang="en-US" sz="1400" dirty="0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Task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C2B3A"/>
                </a:solidFill>
              </a:rPr>
              <a:t>Given an arbitrary image, generate a fluent, accurate natural-language description of its content - without any human annotation at inference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Any resolution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435608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ViT-B/32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Frozen encoder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512-d embedding</a:t>
            </a:r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435608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Head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2-layer MLP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10 prefix tokens</a:t>
            </a:r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435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GPT-2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Decoder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117M params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Autoregressive</a:t>
            </a:r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Caption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Natural language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description</a:t>
            </a:r>
          </a:p>
        </p:txBody>
      </p:sp>
      <p:sp>
        <p:nvSpPr>
          <p:cNvPr id="25" name="Text 23"/>
          <p:cNvSpPr/>
          <p:nvPr/>
        </p:nvSpPr>
        <p:spPr>
          <a:xfrm>
            <a:off x="2267712" y="10571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512-d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1179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10x768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0096" y="1012286"/>
            <a:ext cx="1816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Dynamic tokens + sentences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548640" y="3022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ProjectionHead Detail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(512→7680)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GELU Activation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Dropout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(p=0.1)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(7680→7680)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LayerNorm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Reshape→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(10, 768)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FINE-TUNING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Frozen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62.9M params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187.4 M total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Only ProjectionHead is trained.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GPT-2 weights stay completely fixed.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Fastest to train, smallest memory footprint.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FT-4L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B6E4F"/>
                </a:solidFill>
              </a:rPr>
              <a:t>129.9M params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129.9 M total</a:t>
            </a:r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ProjectionHead + last 4 GPT-2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transformer blocks fine-tuned.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Highest raw capacity.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Accuracy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LoRA  r=8,a=16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</a:rPr>
              <a:t>63.76M params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63.7 M total</a:t>
            </a:r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Low-rank adapters injected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into GPT-2 attention layers via PEFT.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alpha=16, scaling factor = 2.0.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Efficient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COCO 2017 (106K train, ~6K </a:t>
            </a: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~6K test)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1: Frozen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20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Early stopped, patience=3</a:t>
            </a:r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2: FT-4L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15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Converges faster with LR=5e-5</a:t>
            </a:r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3: </a:t>
            </a:r>
            <a:r>
              <a:rPr lang="en-US" sz="1400" b="1" dirty="0" err="1">
                <a:solidFill>
                  <a:srgbClr val="0D1B2A"/>
                </a:solidFill>
              </a:rPr>
              <a:t>LoRA</a:t>
            </a:r>
            <a:r>
              <a:rPr lang="en-US" sz="1400" b="1" dirty="0">
                <a:solidFill>
                  <a:srgbClr val="0D1B2A"/>
                </a:solidFill>
              </a:rPr>
              <a:t> (r=8, scale =2)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15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Should change params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BC97F7C-E393-56B6-ABF8-96588A439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07008"/>
            <a:ext cx="5303520" cy="3006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val2017: 500 Images -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Best per Model (Beam Search)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CIDEr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BLEU-4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B731"/>
                </a:solidFill>
              </a:rPr>
              <a:t>Key Insight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C8F1C33C-178A-E053-B55B-66CF6A65D942}"/>
              </a:ext>
            </a:extLst>
          </p:cNvPr>
          <p:cNvSpPr/>
          <p:nvPr/>
        </p:nvSpPr>
        <p:spPr>
          <a:xfrm>
            <a:off x="365760" y="4825218"/>
            <a:ext cx="5212080" cy="23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Change </a:t>
            </a:r>
            <a:r>
              <a:rPr lang="en-US" sz="1600" b="1" dirty="0" err="1">
                <a:solidFill>
                  <a:srgbClr val="FF0000"/>
                </a:solidFill>
              </a:rPr>
              <a:t>LoRA</a:t>
            </a:r>
            <a:r>
              <a:rPr lang="en-US" sz="1600" b="1" dirty="0">
                <a:solidFill>
                  <a:srgbClr val="FF0000"/>
                </a:solidFill>
              </a:rPr>
              <a:t> r=32, scale =2; Evaluate on 5000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Heatmap: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70580" y="1239570"/>
            <a:ext cx="6759019" cy="31000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59344"/>
            <a:ext cx="8412480" cy="369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Warmer colors = higher score within each metric column. </a:t>
            </a:r>
          </a:p>
          <a:p>
            <a:pPr marL="0" indent="0" algn="ctr">
              <a:buNone/>
            </a:pPr>
            <a:r>
              <a:rPr lang="en-US" sz="1200" i="1" dirty="0"/>
              <a:t>Best row: FT-4L / Beam (highlighted).  Evaluation on COCO val2017, 500 images.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Radar: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37092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Frozen / Beam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Competitive on all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with zero LM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FT-4L / Beam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Best METEOR (0.474)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Marginally better than Frozen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LoRA / Beam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Lower scores on COCO scale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Parametric efficiency trade-off -&gt; upgrade by r=32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Sweep: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627632"/>
            <a:ext cx="585216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Beam Sweep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0.5109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0.1553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0.5638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0.1690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0.5861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0.1739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w=5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0.6099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0.1775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0.5718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0.1654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0.5684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0.1639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Recommended: w = 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Sweep: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30554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Accuracy - Diversity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t=0.3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0.464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5EF"/>
                </a:solidFill>
              </a:rPr>
              <a:t>0.552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t=0.5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0.375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0.625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0.283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0.705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t=0.8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0.229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0.787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0.076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0.899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0.028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0.970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CIDEr / Distinct-2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BB0"/>
                </a:solidFill>
              </a:rPr>
              <a:t>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 FINDINGS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 0.9364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Prefix conditioning works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without LM 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818120" y="1074624"/>
            <a:ext cx="1024128" cy="4297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+12% vs Greedy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Beam search wins on all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metrics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w=5 on COCO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Optimal beam width is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dataset-dependent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818120" y="3072656"/>
            <a:ext cx="1024128" cy="438912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CIDEr: 0.46→0.03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Temperature degrades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monotonically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 ETHICS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COCO was annotated by workers with Western, English-speaking demographics:</a:t>
            </a:r>
            <a:br>
              <a:rPr lang="en-US" sz="1200" dirty="0">
                <a:solidFill>
                  <a:srgbClr val="1C2B3A"/>
                </a:solidFill>
              </a:rPr>
            </a:br>
            <a:r>
              <a:rPr lang="en-US" sz="1200" dirty="0">
                <a:solidFill>
                  <a:srgbClr val="1C2B3A"/>
                </a:solidFill>
              </a:rPr>
              <a:t>- Cultural bias</a:t>
            </a:r>
          </a:p>
          <a:p>
            <a:pPr algn="just"/>
            <a:r>
              <a:rPr lang="en-US" sz="1200" dirty="0"/>
              <a:t>- Linguistic bias</a:t>
            </a:r>
          </a:p>
          <a:p>
            <a:pPr algn="just"/>
            <a:r>
              <a:rPr lang="en-US" sz="1200" dirty="0">
                <a:sym typeface="Wingdings" pitchFamily="2" charset="2"/>
              </a:rPr>
              <a:t> Train on diverse multilingual datasets; evaluate across demographics</a:t>
            </a:r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Misrepresentation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Deploy with human-in-loop for high-impact accessibility applications</a:t>
            </a:r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Accessibility Value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CIDEr 0.93 on common COCO scenes approaches usable quality for assistive technology. 253 million visually impaired people could benefit from automatic alt-text generation when deployed responsibly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</a:t>
            </a:r>
            <a:r>
              <a:rPr lang="en-US" sz="1200" dirty="0">
                <a:solidFill>
                  <a:srgbClr val="1C2B3A"/>
                </a:solidFill>
              </a:rPr>
              <a:t>Human review pipeline; confidence thresholds; grounding supervision</a:t>
            </a:r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&amp; Surveillance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Automatic scene description at scale could enable mass surveillance by generating textual logs from camera feeds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Consent frameworks; on-device processing; data minimization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Live Inference (Both CLI and Web)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Dynamic 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Sensitivity Analysis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Analysis</a:t>
            </a:r>
            <a:r>
              <a:rPr lang="en-US" sz="1200" b="1" dirty="0">
                <a:solidFill>
                  <a:srgbClr val="0D1B2A"/>
                </a:solidFill>
              </a:rPr>
              <a:t> </a:t>
            </a:r>
            <a:r>
              <a:rPr lang="en-US" sz="1600" b="1" dirty="0">
                <a:solidFill>
                  <a:srgbClr val="0D1B2A"/>
                </a:solidFill>
              </a:rPr>
              <a:t>Page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LAUNCH DEMO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Web app: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CLI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1A936F"/>
                </a:solidFill>
                <a:latin typeface="Courier New" pitchFamily="34" charset="0"/>
                <a:cs typeface="Courier New" pitchFamily="34" charset="-120"/>
              </a:rPr>
              <a:t>demo.ipynb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Go ahead….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47096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84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B731"/>
                </a:solidFill>
              </a:rPr>
              <a:t>Future Directions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76500" y="2963133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76500" y="2963133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13660" y="2963133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Cross-attention conditioning to overcome the 10-token prefix bottleneck -&gt; map GPT-2, like BLIP-2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6500" y="3475197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76500" y="3475197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13660" y="3475197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76500" y="3987261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476500" y="3987261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3660" y="3987261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BLIP-2 (3.1B, Q-Former) / GIT (680M, Unified Transformer) comparison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1150</Words>
  <Application>Microsoft Macintosh PowerPoint</Application>
  <PresentationFormat>On-screen Show (16:9)</PresentationFormat>
  <Paragraphs>285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168</cp:revision>
  <dcterms:created xsi:type="dcterms:W3CDTF">2026-04-04T22:41:00Z</dcterms:created>
  <dcterms:modified xsi:type="dcterms:W3CDTF">2026-04-16T15:14:22Z</dcterms:modified>
</cp:coreProperties>
</file>